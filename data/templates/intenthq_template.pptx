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8" r:id="rId6"/>
    <p:sldId id="269" r:id="rId7"/>
    <p:sldId id="262" r:id="rId8"/>
    <p:sldId id="263" r:id="rId9"/>
    <p:sldId id="264" r:id="rId10"/>
    <p:sldId id="265" r:id="rId11"/>
    <p:sldId id="266" r:id="rId12"/>
    <p:sldId id="267" r:id="rId13"/>
  </p:sldIdLst>
  <p:sldSz cx="18288000" cy="10287000"/>
  <p:notesSz cx="6858000" cy="9144000"/>
  <p:embeddedFontLst>
    <p:embeddedFont>
      <p:font typeface="Open Sauce Bold" panose="020B0604020202020204" charset="0"/>
      <p:regular r:id="rId14"/>
    </p:embeddedFont>
    <p:embeddedFont>
      <p:font typeface="Poppins" panose="00000500000000000000" pitchFamily="2" charset="0"/>
      <p:regular r:id="rId15"/>
    </p:embeddedFont>
    <p:embeddedFont>
      <p:font typeface="Poppins Bold" panose="020B0604020202020204" charset="0"/>
      <p:regular r:id="rId16"/>
    </p:embeddedFont>
    <p:embeddedFont>
      <p:font typeface="Poppins Medium" panose="00000600000000000000" pitchFamily="2" charset="0"/>
      <p:regular r:id="rId17"/>
    </p:embeddedFont>
    <p:embeddedFont>
      <p:font typeface="Poppins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2" d="100"/>
          <a:sy n="62" d="100"/>
        </p:scale>
        <p:origin x="57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Barclays</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9.sv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Freeform 2"/>
          <p:cNvSpPr/>
          <p:nvPr/>
        </p:nvSpPr>
        <p:spPr>
          <a:xfrm>
            <a:off x="-1143000" y="-495300"/>
            <a:ext cx="20800382" cy="11619352"/>
          </a:xfrm>
          <a:custGeom>
            <a:avLst/>
            <a:gdLst/>
            <a:ahLst/>
            <a:cxnLst/>
            <a:rect l="l" t="t" r="r" b="b"/>
            <a:pathLst>
              <a:path w="20800382" h="11619352">
                <a:moveTo>
                  <a:pt x="0" y="0"/>
                </a:moveTo>
                <a:lnTo>
                  <a:pt x="20800381" y="0"/>
                </a:lnTo>
                <a:lnTo>
                  <a:pt x="20800381" y="11619352"/>
                </a:lnTo>
                <a:lnTo>
                  <a:pt x="0" y="11619352"/>
                </a:lnTo>
                <a:lnTo>
                  <a:pt x="0" y="0"/>
                </a:lnTo>
                <a:close/>
              </a:path>
            </a:pathLst>
          </a:custGeom>
          <a:blipFill>
            <a:blip r:embed="rId2">
              <a:extLst>
                <a:ext uri="{96DAC541-7B7A-43D3-8B79-37D633B846F1}">
                  <asvg:svgBlip xmlns:asvg="http://schemas.microsoft.com/office/drawing/2016/SVG/main" r:embed="rId3"/>
                </a:ext>
              </a:extLst>
            </a:blip>
            <a:stretch>
              <a:fillRect l="-22012" t="-34932" r="-20456" b="-35094"/>
            </a:stretch>
          </a:blipFill>
        </p:spPr>
        <p:txBody>
          <a:bodyPr/>
          <a:lstStyle/>
          <a:p>
            <a:endParaRPr lang="en-GB"/>
          </a:p>
        </p:txBody>
      </p:sp>
      <p:grpSp>
        <p:nvGrpSpPr>
          <p:cNvPr id="3" name="Group 3"/>
          <p:cNvGrpSpPr/>
          <p:nvPr/>
        </p:nvGrpSpPr>
        <p:grpSpPr>
          <a:xfrm>
            <a:off x="7523583" y="7047186"/>
            <a:ext cx="1620417" cy="1222584"/>
            <a:chOff x="0" y="0"/>
            <a:chExt cx="2160557" cy="1630112"/>
          </a:xfrm>
        </p:grpSpPr>
        <p:grpSp>
          <p:nvGrpSpPr>
            <p:cNvPr id="4" name="Group 4"/>
            <p:cNvGrpSpPr/>
            <p:nvPr/>
          </p:nvGrpSpPr>
          <p:grpSpPr>
            <a:xfrm>
              <a:off x="0" y="0"/>
              <a:ext cx="462759" cy="1630112"/>
              <a:chOff x="0" y="0"/>
              <a:chExt cx="230739" cy="812800"/>
            </a:xfrm>
          </p:grpSpPr>
          <p:sp>
            <p:nvSpPr>
              <p:cNvPr id="5" name="Freeform 5"/>
              <p:cNvSpPr/>
              <p:nvPr/>
            </p:nvSpPr>
            <p:spPr>
              <a:xfrm>
                <a:off x="0" y="0"/>
                <a:ext cx="230739" cy="812800"/>
              </a:xfrm>
              <a:custGeom>
                <a:avLst/>
                <a:gdLst/>
                <a:ahLst/>
                <a:cxnLst/>
                <a:rect l="l" t="t" r="r" b="b"/>
                <a:pathLst>
                  <a:path w="230739" h="812800">
                    <a:moveTo>
                      <a:pt x="115370" y="0"/>
                    </a:moveTo>
                    <a:cubicBezTo>
                      <a:pt x="51653" y="0"/>
                      <a:pt x="0" y="181951"/>
                      <a:pt x="0" y="406400"/>
                    </a:cubicBezTo>
                    <a:cubicBezTo>
                      <a:pt x="0" y="630849"/>
                      <a:pt x="51653" y="812800"/>
                      <a:pt x="115370" y="812800"/>
                    </a:cubicBezTo>
                    <a:cubicBezTo>
                      <a:pt x="179086" y="812800"/>
                      <a:pt x="230739" y="630849"/>
                      <a:pt x="230739" y="406400"/>
                    </a:cubicBezTo>
                    <a:cubicBezTo>
                      <a:pt x="230739" y="181951"/>
                      <a:pt x="179086" y="0"/>
                      <a:pt x="115370"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6" name="TextBox 6"/>
              <p:cNvSpPr txBox="1"/>
              <p:nvPr/>
            </p:nvSpPr>
            <p:spPr>
              <a:xfrm>
                <a:off x="21632" y="28575"/>
                <a:ext cx="187476" cy="708025"/>
              </a:xfrm>
              <a:prstGeom prst="rect">
                <a:avLst/>
              </a:prstGeom>
            </p:spPr>
            <p:txBody>
              <a:bodyPr lIns="56042" tIns="56042" rIns="56042" bIns="56042" rtlCol="0" anchor="ctr"/>
              <a:lstStyle/>
              <a:p>
                <a:pPr algn="ctr">
                  <a:lnSpc>
                    <a:spcPts val="3359"/>
                  </a:lnSpc>
                </a:pPr>
                <a:endParaRPr/>
              </a:p>
            </p:txBody>
          </p:sp>
        </p:grpSp>
        <p:grpSp>
          <p:nvGrpSpPr>
            <p:cNvPr id="7" name="Group 7"/>
            <p:cNvGrpSpPr/>
            <p:nvPr/>
          </p:nvGrpSpPr>
          <p:grpSpPr>
            <a:xfrm>
              <a:off x="411959" y="0"/>
              <a:ext cx="664266" cy="1630112"/>
              <a:chOff x="0" y="0"/>
              <a:chExt cx="331214" cy="812800"/>
            </a:xfrm>
          </p:grpSpPr>
          <p:sp>
            <p:nvSpPr>
              <p:cNvPr id="8" name="Freeform 8"/>
              <p:cNvSpPr/>
              <p:nvPr/>
            </p:nvSpPr>
            <p:spPr>
              <a:xfrm>
                <a:off x="0" y="0"/>
                <a:ext cx="331214" cy="812800"/>
              </a:xfrm>
              <a:custGeom>
                <a:avLst/>
                <a:gdLst/>
                <a:ahLst/>
                <a:cxnLst/>
                <a:rect l="l" t="t" r="r" b="b"/>
                <a:pathLst>
                  <a:path w="331214" h="812800">
                    <a:moveTo>
                      <a:pt x="165607" y="0"/>
                    </a:moveTo>
                    <a:cubicBezTo>
                      <a:pt x="74145" y="0"/>
                      <a:pt x="0" y="181951"/>
                      <a:pt x="0" y="406400"/>
                    </a:cubicBezTo>
                    <a:cubicBezTo>
                      <a:pt x="0" y="630849"/>
                      <a:pt x="74145" y="812800"/>
                      <a:pt x="165607" y="812800"/>
                    </a:cubicBezTo>
                    <a:cubicBezTo>
                      <a:pt x="257069" y="812800"/>
                      <a:pt x="331214" y="630849"/>
                      <a:pt x="331214" y="406400"/>
                    </a:cubicBezTo>
                    <a:cubicBezTo>
                      <a:pt x="331214" y="181951"/>
                      <a:pt x="257069" y="0"/>
                      <a:pt x="165607"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9" name="TextBox 9"/>
              <p:cNvSpPr txBox="1"/>
              <p:nvPr/>
            </p:nvSpPr>
            <p:spPr>
              <a:xfrm>
                <a:off x="31051" y="28575"/>
                <a:ext cx="269111" cy="708025"/>
              </a:xfrm>
              <a:prstGeom prst="rect">
                <a:avLst/>
              </a:prstGeom>
            </p:spPr>
            <p:txBody>
              <a:bodyPr lIns="56042" tIns="56042" rIns="56042" bIns="56042" rtlCol="0" anchor="ctr"/>
              <a:lstStyle/>
              <a:p>
                <a:pPr algn="ctr">
                  <a:lnSpc>
                    <a:spcPts val="3359"/>
                  </a:lnSpc>
                </a:pPr>
                <a:endParaRPr/>
              </a:p>
            </p:txBody>
          </p:sp>
        </p:grpSp>
        <p:grpSp>
          <p:nvGrpSpPr>
            <p:cNvPr id="10" name="Group 10"/>
            <p:cNvGrpSpPr/>
            <p:nvPr/>
          </p:nvGrpSpPr>
          <p:grpSpPr>
            <a:xfrm>
              <a:off x="1025426" y="0"/>
              <a:ext cx="1135131" cy="1630112"/>
              <a:chOff x="0" y="0"/>
              <a:chExt cx="565994" cy="812800"/>
            </a:xfrm>
          </p:grpSpPr>
          <p:sp>
            <p:nvSpPr>
              <p:cNvPr id="11" name="Freeform 11"/>
              <p:cNvSpPr/>
              <p:nvPr/>
            </p:nvSpPr>
            <p:spPr>
              <a:xfrm>
                <a:off x="0" y="0"/>
                <a:ext cx="565994" cy="812800"/>
              </a:xfrm>
              <a:custGeom>
                <a:avLst/>
                <a:gdLst/>
                <a:ahLst/>
                <a:cxnLst/>
                <a:rect l="l" t="t" r="r" b="b"/>
                <a:pathLst>
                  <a:path w="565994" h="812800">
                    <a:moveTo>
                      <a:pt x="282997" y="0"/>
                    </a:moveTo>
                    <a:cubicBezTo>
                      <a:pt x="126702" y="0"/>
                      <a:pt x="0" y="181951"/>
                      <a:pt x="0" y="406400"/>
                    </a:cubicBezTo>
                    <a:cubicBezTo>
                      <a:pt x="0" y="630849"/>
                      <a:pt x="126702" y="812800"/>
                      <a:pt x="282997" y="812800"/>
                    </a:cubicBezTo>
                    <a:cubicBezTo>
                      <a:pt x="439292" y="812800"/>
                      <a:pt x="565994" y="630849"/>
                      <a:pt x="565994" y="406400"/>
                    </a:cubicBezTo>
                    <a:cubicBezTo>
                      <a:pt x="565994" y="181951"/>
                      <a:pt x="439292" y="0"/>
                      <a:pt x="282997"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12" name="TextBox 12"/>
              <p:cNvSpPr txBox="1"/>
              <p:nvPr/>
            </p:nvSpPr>
            <p:spPr>
              <a:xfrm>
                <a:off x="53062" y="28575"/>
                <a:ext cx="459870" cy="708025"/>
              </a:xfrm>
              <a:prstGeom prst="rect">
                <a:avLst/>
              </a:prstGeom>
            </p:spPr>
            <p:txBody>
              <a:bodyPr lIns="56042" tIns="56042" rIns="56042" bIns="56042" rtlCol="0" anchor="ctr"/>
              <a:lstStyle/>
              <a:p>
                <a:pPr algn="ctr">
                  <a:lnSpc>
                    <a:spcPts val="3359"/>
                  </a:lnSpc>
                </a:pPr>
                <a:endParaRPr/>
              </a:p>
            </p:txBody>
          </p:sp>
        </p:grpSp>
      </p:grpSp>
      <p:grpSp>
        <p:nvGrpSpPr>
          <p:cNvPr id="16" name="Group 16"/>
          <p:cNvGrpSpPr/>
          <p:nvPr/>
        </p:nvGrpSpPr>
        <p:grpSpPr>
          <a:xfrm>
            <a:off x="-2946942" y="8980029"/>
            <a:ext cx="17196342" cy="708223"/>
            <a:chOff x="0" y="0"/>
            <a:chExt cx="3820516" cy="186528"/>
          </a:xfrm>
        </p:grpSpPr>
        <p:sp>
          <p:nvSpPr>
            <p:cNvPr id="17" name="Freeform 17"/>
            <p:cNvSpPr/>
            <p:nvPr/>
          </p:nvSpPr>
          <p:spPr>
            <a:xfrm>
              <a:off x="0" y="0"/>
              <a:ext cx="3820516" cy="186528"/>
            </a:xfrm>
            <a:custGeom>
              <a:avLst/>
              <a:gdLst/>
              <a:ahLst/>
              <a:cxnLst/>
              <a:rect l="l" t="t" r="r" b="b"/>
              <a:pathLst>
                <a:path w="3820516" h="186528">
                  <a:moveTo>
                    <a:pt x="53370" y="0"/>
                  </a:moveTo>
                  <a:lnTo>
                    <a:pt x="3767146" y="0"/>
                  </a:lnTo>
                  <a:cubicBezTo>
                    <a:pt x="3781300" y="0"/>
                    <a:pt x="3794875" y="5623"/>
                    <a:pt x="3804884" y="15632"/>
                  </a:cubicBezTo>
                  <a:cubicBezTo>
                    <a:pt x="3814893" y="25641"/>
                    <a:pt x="3820516" y="39216"/>
                    <a:pt x="3820516" y="53370"/>
                  </a:cubicBezTo>
                  <a:lnTo>
                    <a:pt x="3820516" y="133157"/>
                  </a:lnTo>
                  <a:cubicBezTo>
                    <a:pt x="3820516" y="147312"/>
                    <a:pt x="3814893" y="160887"/>
                    <a:pt x="3804884" y="170896"/>
                  </a:cubicBezTo>
                  <a:cubicBezTo>
                    <a:pt x="3794875" y="180905"/>
                    <a:pt x="3781300" y="186528"/>
                    <a:pt x="3767146" y="186528"/>
                  </a:cubicBezTo>
                  <a:lnTo>
                    <a:pt x="53370" y="186528"/>
                  </a:lnTo>
                  <a:cubicBezTo>
                    <a:pt x="39216" y="186528"/>
                    <a:pt x="25641" y="180905"/>
                    <a:pt x="15632" y="170896"/>
                  </a:cubicBezTo>
                  <a:cubicBezTo>
                    <a:pt x="5623" y="160887"/>
                    <a:pt x="0" y="147312"/>
                    <a:pt x="0" y="133157"/>
                  </a:cubicBezTo>
                  <a:lnTo>
                    <a:pt x="0" y="53370"/>
                  </a:lnTo>
                  <a:cubicBezTo>
                    <a:pt x="0" y="39216"/>
                    <a:pt x="5623" y="25641"/>
                    <a:pt x="15632" y="15632"/>
                  </a:cubicBezTo>
                  <a:cubicBezTo>
                    <a:pt x="25641" y="5623"/>
                    <a:pt x="39216" y="0"/>
                    <a:pt x="53370"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18" name="TextBox 18"/>
            <p:cNvSpPr txBox="1"/>
            <p:nvPr/>
          </p:nvSpPr>
          <p:spPr>
            <a:xfrm>
              <a:off x="0" y="-47625"/>
              <a:ext cx="3820516" cy="234153"/>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4343400" y="598749"/>
            <a:ext cx="14325371" cy="708223"/>
            <a:chOff x="0" y="0"/>
            <a:chExt cx="3772937" cy="186528"/>
          </a:xfrm>
        </p:grpSpPr>
        <p:sp>
          <p:nvSpPr>
            <p:cNvPr id="20" name="Freeform 20"/>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21" name="TextBox 21"/>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22" name="Freeform 22"/>
          <p:cNvSpPr/>
          <p:nvPr/>
        </p:nvSpPr>
        <p:spPr>
          <a:xfrm>
            <a:off x="15087600" y="9105900"/>
            <a:ext cx="2473253" cy="512573"/>
          </a:xfrm>
          <a:custGeom>
            <a:avLst/>
            <a:gdLst/>
            <a:ahLst/>
            <a:cxnLst/>
            <a:rect l="l" t="t" r="r" b="b"/>
            <a:pathLst>
              <a:path w="1444553" h="283973">
                <a:moveTo>
                  <a:pt x="0" y="0"/>
                </a:moveTo>
                <a:lnTo>
                  <a:pt x="1444553" y="0"/>
                </a:lnTo>
                <a:lnTo>
                  <a:pt x="1444553" y="283973"/>
                </a:lnTo>
                <a:lnTo>
                  <a:pt x="0" y="283973"/>
                </a:lnTo>
                <a:lnTo>
                  <a:pt x="0" y="0"/>
                </a:lnTo>
                <a:close/>
              </a:path>
            </a:pathLst>
          </a:custGeom>
          <a:blipFill>
            <a:blip r:embed="rId4"/>
            <a:stretch>
              <a:fillRect t="-208483" b="-200210"/>
            </a:stretch>
          </a:blipFill>
        </p:spPr>
        <p:txBody>
          <a:bodyPr/>
          <a:lstStyle/>
          <a:p>
            <a:endParaRPr lang="en-GB"/>
          </a:p>
        </p:txBody>
      </p:sp>
      <p:grpSp>
        <p:nvGrpSpPr>
          <p:cNvPr id="23" name="Group 23"/>
          <p:cNvGrpSpPr/>
          <p:nvPr/>
        </p:nvGrpSpPr>
        <p:grpSpPr>
          <a:xfrm>
            <a:off x="10681549" y="1800816"/>
            <a:ext cx="6577751" cy="6577751"/>
            <a:chOff x="0" y="0"/>
            <a:chExt cx="812800" cy="812800"/>
          </a:xfrm>
        </p:grpSpPr>
        <p:sp>
          <p:nvSpPr>
            <p:cNvPr id="24" name="Freeform 24"/>
            <p:cNvSpPr/>
            <p:nvPr/>
          </p:nvSpPr>
          <p:spPr>
            <a:xfrm>
              <a:off x="0" y="0"/>
              <a:ext cx="812800" cy="812800"/>
            </a:xfrm>
            <a:custGeom>
              <a:avLst/>
              <a:gdLst/>
              <a:ahLst/>
              <a:cxnLst/>
              <a:rect l="l" t="t" r="r" b="b"/>
              <a:pathLst>
                <a:path w="812800" h="812800">
                  <a:moveTo>
                    <a:pt x="27071" y="0"/>
                  </a:moveTo>
                  <a:lnTo>
                    <a:pt x="785729" y="0"/>
                  </a:lnTo>
                  <a:cubicBezTo>
                    <a:pt x="800680" y="0"/>
                    <a:pt x="812800" y="12120"/>
                    <a:pt x="812800" y="27071"/>
                  </a:cubicBezTo>
                  <a:lnTo>
                    <a:pt x="812800" y="785729"/>
                  </a:lnTo>
                  <a:cubicBezTo>
                    <a:pt x="812800" y="800680"/>
                    <a:pt x="800680" y="812800"/>
                    <a:pt x="785729" y="812800"/>
                  </a:cubicBezTo>
                  <a:lnTo>
                    <a:pt x="27071" y="812800"/>
                  </a:lnTo>
                  <a:cubicBezTo>
                    <a:pt x="12120" y="812800"/>
                    <a:pt x="0" y="800680"/>
                    <a:pt x="0" y="785729"/>
                  </a:cubicBezTo>
                  <a:lnTo>
                    <a:pt x="0" y="27071"/>
                  </a:lnTo>
                  <a:cubicBezTo>
                    <a:pt x="0" y="12120"/>
                    <a:pt x="12120" y="0"/>
                    <a:pt x="27071" y="0"/>
                  </a:cubicBezTo>
                  <a:close/>
                </a:path>
              </a:pathLst>
            </a:custGeom>
            <a:blipFill>
              <a:blip r:embed="rId5"/>
              <a:stretch>
                <a:fillRect l="-39181" r="-39181"/>
              </a:stretch>
            </a:blipFill>
          </p:spPr>
          <p:txBody>
            <a:bodyPr/>
            <a:lstStyle/>
            <a:p>
              <a:endParaRPr lang="en-GB"/>
            </a:p>
          </p:txBody>
        </p:sp>
      </p:grpSp>
      <p:sp>
        <p:nvSpPr>
          <p:cNvPr id="26" name="BRAND_NAME"/>
          <p:cNvSpPr txBox="1">
            <a:spLocks/>
          </p:cNvSpPr>
          <p:nvPr/>
        </p:nvSpPr>
        <p:spPr>
          <a:xfrm>
            <a:off x="1028700" y="6580460"/>
            <a:ext cx="6919131" cy="1076326"/>
          </a:xfrm>
          <a:prstGeom prst="rect">
            <a:avLst/>
          </a:prstGeom>
        </p:spPr>
        <p:txBody>
          <a:bodyPr lIns="0" tIns="0" rIns="0" bIns="0" rtlCol="0" anchor="t">
            <a:spAutoFit/>
          </a:bodyPr>
          <a:lstStyle/>
          <a:p>
            <a:pPr marL="0" lvl="0" indent="0" algn="l">
              <a:lnSpc>
                <a:spcPts val="7200"/>
              </a:lnSpc>
              <a:spcBef>
                <a:spcPct val="0"/>
              </a:spcBef>
            </a:pPr>
            <a:r>
              <a:rPr lang="en-US" sz="8000" spc="-160" dirty="0">
                <a:solidFill>
                  <a:srgbClr val="FFFFFF"/>
                </a:solidFill>
                <a:latin typeface="Poppins"/>
                <a:ea typeface="Poppins"/>
                <a:cs typeface="Poppins"/>
                <a:sym typeface="Poppins"/>
              </a:rPr>
              <a:t>Brand Name</a:t>
            </a:r>
          </a:p>
        </p:txBody>
      </p:sp>
      <p:sp>
        <p:nvSpPr>
          <p:cNvPr id="27" name="TextBox 27"/>
          <p:cNvSpPr txBox="1"/>
          <p:nvPr/>
        </p:nvSpPr>
        <p:spPr>
          <a:xfrm>
            <a:off x="1028700" y="7823018"/>
            <a:ext cx="10292715" cy="391794"/>
          </a:xfrm>
          <a:prstGeom prst="rect">
            <a:avLst/>
          </a:prstGeom>
        </p:spPr>
        <p:txBody>
          <a:bodyPr lIns="0" tIns="0" rIns="0" bIns="0" rtlCol="0" anchor="t">
            <a:spAutoFit/>
          </a:bodyPr>
          <a:lstStyle/>
          <a:p>
            <a:pPr marL="0" lvl="0" indent="0" algn="l">
              <a:lnSpc>
                <a:spcPts val="3080"/>
              </a:lnSpc>
              <a:spcBef>
                <a:spcPct val="0"/>
              </a:spcBef>
            </a:pPr>
            <a:r>
              <a:rPr lang="en-US" sz="2200" dirty="0">
                <a:solidFill>
                  <a:srgbClr val="FFFFFF"/>
                </a:solidFill>
                <a:latin typeface="Poppins"/>
                <a:ea typeface="Poppins"/>
                <a:cs typeface="Poppins"/>
                <a:sym typeface="Poppins"/>
              </a:rPr>
              <a:t>Actionable insights from </a:t>
            </a:r>
            <a:r>
              <a:rPr lang="en-US" sz="2200" dirty="0" err="1">
                <a:solidFill>
                  <a:srgbClr val="FFFFFF"/>
                </a:solidFill>
                <a:latin typeface="Poppins"/>
                <a:ea typeface="Poppins"/>
                <a:cs typeface="Poppins"/>
                <a:sym typeface="Poppins"/>
              </a:rPr>
              <a:t>behavioural</a:t>
            </a:r>
            <a:r>
              <a:rPr lang="en-US" sz="2200" dirty="0">
                <a:solidFill>
                  <a:srgbClr val="FFFFFF"/>
                </a:solidFill>
                <a:latin typeface="Poppins"/>
                <a:ea typeface="Poppins"/>
                <a:cs typeface="Poppins"/>
                <a:sym typeface="Poppins"/>
              </a:rPr>
              <a:t> signals.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5009122">
            <a:off x="-3709771" y="2753883"/>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84000"/>
            </a:blip>
            <a:stretch>
              <a:fillRect l="-62339" t="-32512" r="-25070" b="-29831"/>
            </a:stretch>
          </a:blipFill>
        </p:spPr>
        <p:txBody>
          <a:bodyPr/>
          <a:lstStyle/>
          <a:p>
            <a:endParaRPr lang="en-GB"/>
          </a:p>
        </p:txBody>
      </p:sp>
      <p:sp>
        <p:nvSpPr>
          <p:cNvPr id="3" name="Freeform 3"/>
          <p:cNvSpPr/>
          <p:nvPr/>
        </p:nvSpPr>
        <p:spPr>
          <a:xfrm rot="-10065404">
            <a:off x="10757907" y="-2291444"/>
            <a:ext cx="12149701" cy="13008834"/>
          </a:xfrm>
          <a:custGeom>
            <a:avLst/>
            <a:gdLst/>
            <a:ahLst/>
            <a:cxnLst/>
            <a:rect l="l" t="t" r="r" b="b"/>
            <a:pathLst>
              <a:path w="12149701" h="13008834">
                <a:moveTo>
                  <a:pt x="0" y="0"/>
                </a:moveTo>
                <a:lnTo>
                  <a:pt x="12149701" y="0"/>
                </a:lnTo>
                <a:lnTo>
                  <a:pt x="12149701" y="13008834"/>
                </a:lnTo>
                <a:lnTo>
                  <a:pt x="0" y="13008834"/>
                </a:lnTo>
                <a:lnTo>
                  <a:pt x="0" y="0"/>
                </a:lnTo>
                <a:close/>
              </a:path>
            </a:pathLst>
          </a:custGeom>
          <a:blipFill>
            <a:blip r:embed="rId3">
              <a:alphaModFix amt="62000"/>
            </a:blip>
            <a:stretch>
              <a:fillRect l="-62339" t="-32512" r="-25070" b="-29831"/>
            </a:stretch>
          </a:blipFill>
        </p:spPr>
        <p:txBody>
          <a:bodyPr/>
          <a:lstStyle/>
          <a:p>
            <a:endParaRPr lang="en-GB"/>
          </a:p>
        </p:txBody>
      </p:sp>
      <p:grpSp>
        <p:nvGrpSpPr>
          <p:cNvPr id="4" name="Group 4"/>
          <p:cNvGrpSpPr/>
          <p:nvPr/>
        </p:nvGrpSpPr>
        <p:grpSpPr>
          <a:xfrm>
            <a:off x="657786" y="-756061"/>
            <a:ext cx="708223" cy="11639102"/>
            <a:chOff x="0" y="0"/>
            <a:chExt cx="944297" cy="15518803"/>
          </a:xfrm>
        </p:grpSpPr>
        <p:grpSp>
          <p:nvGrpSpPr>
            <p:cNvPr id="5" name="Group 5"/>
            <p:cNvGrpSpPr/>
            <p:nvPr/>
          </p:nvGrpSpPr>
          <p:grpSpPr>
            <a:xfrm rot="-5400000">
              <a:off x="-4050639" y="10523867"/>
              <a:ext cx="9045575" cy="944297"/>
              <a:chOff x="0" y="0"/>
              <a:chExt cx="1786780" cy="186528"/>
            </a:xfrm>
          </p:grpSpPr>
          <p:sp>
            <p:nvSpPr>
              <p:cNvPr id="6" name="Freeform 6"/>
              <p:cNvSpPr/>
              <p:nvPr/>
            </p:nvSpPr>
            <p:spPr>
              <a:xfrm>
                <a:off x="0" y="0"/>
                <a:ext cx="1786780" cy="186528"/>
              </a:xfrm>
              <a:custGeom>
                <a:avLst/>
                <a:gdLst/>
                <a:ahLst/>
                <a:cxnLst/>
                <a:rect l="l" t="t" r="r" b="b"/>
                <a:pathLst>
                  <a:path w="1786780" h="186528">
                    <a:moveTo>
                      <a:pt x="93264" y="0"/>
                    </a:moveTo>
                    <a:lnTo>
                      <a:pt x="1693516" y="0"/>
                    </a:lnTo>
                    <a:cubicBezTo>
                      <a:pt x="1745025" y="0"/>
                      <a:pt x="1786780" y="41756"/>
                      <a:pt x="1786780" y="93264"/>
                    </a:cubicBezTo>
                    <a:lnTo>
                      <a:pt x="1786780" y="93264"/>
                    </a:lnTo>
                    <a:cubicBezTo>
                      <a:pt x="1786780" y="144772"/>
                      <a:pt x="1745025" y="186528"/>
                      <a:pt x="1693516"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7" name="TextBox 7"/>
              <p:cNvSpPr txBox="1"/>
              <p:nvPr/>
            </p:nvSpPr>
            <p:spPr>
              <a:xfrm>
                <a:off x="0" y="-47625"/>
                <a:ext cx="1786780" cy="234153"/>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5400000">
              <a:off x="-2770816" y="2770816"/>
              <a:ext cx="6485928" cy="944297"/>
              <a:chOff x="0" y="0"/>
              <a:chExt cx="1281171" cy="186528"/>
            </a:xfrm>
          </p:grpSpPr>
          <p:sp>
            <p:nvSpPr>
              <p:cNvPr id="9" name="Freeform 9"/>
              <p:cNvSpPr/>
              <p:nvPr/>
            </p:nvSpPr>
            <p:spPr>
              <a:xfrm>
                <a:off x="0" y="0"/>
                <a:ext cx="1281171" cy="186528"/>
              </a:xfrm>
              <a:custGeom>
                <a:avLst/>
                <a:gdLst/>
                <a:ahLst/>
                <a:cxnLst/>
                <a:rect l="l" t="t" r="r" b="b"/>
                <a:pathLst>
                  <a:path w="1281171" h="186528">
                    <a:moveTo>
                      <a:pt x="93264" y="0"/>
                    </a:moveTo>
                    <a:lnTo>
                      <a:pt x="1187907" y="0"/>
                    </a:lnTo>
                    <a:cubicBezTo>
                      <a:pt x="1239415" y="0"/>
                      <a:pt x="1281171" y="41756"/>
                      <a:pt x="1281171" y="93264"/>
                    </a:cubicBezTo>
                    <a:lnTo>
                      <a:pt x="1281171" y="93264"/>
                    </a:lnTo>
                    <a:cubicBezTo>
                      <a:pt x="1281171" y="144772"/>
                      <a:pt x="1239415" y="186528"/>
                      <a:pt x="1187907"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10" name="TextBox 10"/>
              <p:cNvSpPr txBox="1"/>
              <p:nvPr/>
            </p:nvSpPr>
            <p:spPr>
              <a:xfrm>
                <a:off x="0" y="-47625"/>
                <a:ext cx="1281171" cy="234153"/>
              </a:xfrm>
              <a:prstGeom prst="rect">
                <a:avLst/>
              </a:prstGeom>
            </p:spPr>
            <p:txBody>
              <a:bodyPr lIns="50800" tIns="50800" rIns="50800" bIns="50800" rtlCol="0" anchor="ctr"/>
              <a:lstStyle/>
              <a:p>
                <a:pPr algn="ctr">
                  <a:lnSpc>
                    <a:spcPts val="3359"/>
                  </a:lnSpc>
                </a:pPr>
                <a:endParaRPr/>
              </a:p>
            </p:txBody>
          </p:sp>
        </p:grpSp>
      </p:grpSp>
      <p:sp>
        <p:nvSpPr>
          <p:cNvPr id="11" name="Freeform 11"/>
          <p:cNvSpPr/>
          <p:nvPr/>
        </p:nvSpPr>
        <p:spPr>
          <a:xfrm>
            <a:off x="9124626" y="3048384"/>
            <a:ext cx="8134674" cy="4890973"/>
          </a:xfrm>
          <a:custGeom>
            <a:avLst/>
            <a:gdLst/>
            <a:ahLst/>
            <a:cxnLst/>
            <a:rect l="l" t="t" r="r" b="b"/>
            <a:pathLst>
              <a:path w="8134674" h="4890973">
                <a:moveTo>
                  <a:pt x="0" y="0"/>
                </a:moveTo>
                <a:lnTo>
                  <a:pt x="8134674" y="0"/>
                </a:lnTo>
                <a:lnTo>
                  <a:pt x="8134674" y="4890973"/>
                </a:lnTo>
                <a:lnTo>
                  <a:pt x="0" y="4890973"/>
                </a:lnTo>
                <a:lnTo>
                  <a:pt x="0" y="0"/>
                </a:lnTo>
                <a:close/>
              </a:path>
            </a:pathLst>
          </a:custGeom>
          <a:blipFill>
            <a:blip r:embed="rId4"/>
            <a:stretch>
              <a:fillRect/>
            </a:stretch>
          </a:blipFill>
        </p:spPr>
        <p:txBody>
          <a:bodyPr/>
          <a:lstStyle/>
          <a:p>
            <a:endParaRPr lang="en-GB"/>
          </a:p>
        </p:txBody>
      </p:sp>
      <p:sp>
        <p:nvSpPr>
          <p:cNvPr id="12" name="AGENDA"/>
          <p:cNvSpPr txBox="1"/>
          <p:nvPr/>
        </p:nvSpPr>
        <p:spPr>
          <a:xfrm>
            <a:off x="1940671" y="642938"/>
            <a:ext cx="5847899" cy="914400"/>
          </a:xfrm>
          <a:prstGeom prst="rect">
            <a:avLst/>
          </a:prstGeom>
        </p:spPr>
        <p:txBody>
          <a:bodyPr lIns="0" tIns="0" rIns="0" bIns="0" rtlCol="0" anchor="t">
            <a:spAutoFit/>
          </a:bodyPr>
          <a:lstStyle/>
          <a:p>
            <a:pPr marL="0" lvl="0" indent="0" algn="l">
              <a:lnSpc>
                <a:spcPts val="6299"/>
              </a:lnSpc>
              <a:spcBef>
                <a:spcPct val="0"/>
              </a:spcBef>
            </a:pPr>
            <a:r>
              <a:rPr lang="en-US" sz="6999" spc="-139" dirty="0">
                <a:solidFill>
                  <a:srgbClr val="FFFFFF"/>
                </a:solidFill>
                <a:latin typeface="Poppins"/>
                <a:ea typeface="Poppins"/>
                <a:cs typeface="Poppins"/>
                <a:sym typeface="Poppins"/>
              </a:rPr>
              <a:t>Agenda</a:t>
            </a:r>
          </a:p>
        </p:txBody>
      </p:sp>
      <p:sp>
        <p:nvSpPr>
          <p:cNvPr id="13" name="AGENDA_LIST"/>
          <p:cNvSpPr txBox="1"/>
          <p:nvPr/>
        </p:nvSpPr>
        <p:spPr>
          <a:xfrm>
            <a:off x="1940671" y="3823285"/>
            <a:ext cx="6180744" cy="3716652"/>
          </a:xfrm>
          <a:prstGeom prst="rect">
            <a:avLst/>
          </a:prstGeom>
        </p:spPr>
        <p:txBody>
          <a:bodyPr lIns="0" tIns="0" rIns="0" bIns="0" rtlCol="0" anchor="t">
            <a:spAutoFit/>
          </a:bodyPr>
          <a:lstStyle/>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Shift</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Challenge </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About </a:t>
            </a:r>
            <a:r>
              <a:rPr lang="en-US" sz="2200" b="1" dirty="0" err="1">
                <a:solidFill>
                  <a:srgbClr val="FFFFFF"/>
                </a:solidFill>
                <a:latin typeface="Poppins Semi-Bold"/>
                <a:ea typeface="Poppins Semi-Bold"/>
                <a:cs typeface="Poppins Semi-Bold"/>
                <a:sym typeface="Poppins Semi-Bold"/>
              </a:rPr>
              <a:t>IntentHQ</a:t>
            </a:r>
            <a:endParaRPr lang="en-US" sz="2200" b="1" dirty="0">
              <a:solidFill>
                <a:srgbClr val="FFFFFF"/>
              </a:solidFill>
              <a:latin typeface="Poppins Semi-Bold"/>
              <a:ea typeface="Poppins Semi-Bold"/>
              <a:cs typeface="Poppins Semi-Bold"/>
              <a:sym typeface="Poppins Semi-Bold"/>
            </a:endParaRP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Platform Overview</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Solution</a:t>
            </a:r>
          </a:p>
          <a:p>
            <a:pPr marL="474984" lvl="1" indent="-237492" algn="l">
              <a:lnSpc>
                <a:spcPts val="4950"/>
              </a:lnSpc>
              <a:buFont typeface="Arial"/>
              <a:buChar char="•"/>
            </a:pPr>
            <a:r>
              <a:rPr lang="en-US" sz="2200" b="1" dirty="0" err="1">
                <a:solidFill>
                  <a:srgbClr val="FFFFFF"/>
                </a:solidFill>
                <a:latin typeface="Poppins Semi-Bold"/>
                <a:ea typeface="Poppins Semi-Bold"/>
                <a:cs typeface="Poppins Semi-Bold"/>
                <a:sym typeface="Poppins Semi-Bold"/>
              </a:rPr>
              <a:t>AoB</a:t>
            </a:r>
            <a:r>
              <a:rPr lang="en-US" sz="2200" b="1" dirty="0">
                <a:solidFill>
                  <a:srgbClr val="FFFFFF"/>
                </a:solidFill>
                <a:latin typeface="Poppins Semi-Bold"/>
                <a:ea typeface="Poppins Semi-Bold"/>
                <a:cs typeface="Poppins Semi-Bold"/>
                <a:sym typeface="Poppins Semi-Bold"/>
              </a:rPr>
              <a:t> &amp; Next steps</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372177" y="1617203"/>
            <a:ext cx="21808241" cy="17995804"/>
          </a:xfrm>
          <a:custGeom>
            <a:avLst/>
            <a:gdLst/>
            <a:ahLst/>
            <a:cxnLst/>
            <a:rect l="l" t="t" r="r" b="b"/>
            <a:pathLst>
              <a:path w="21808241" h="17995804">
                <a:moveTo>
                  <a:pt x="0" y="0"/>
                </a:moveTo>
                <a:lnTo>
                  <a:pt x="21808241" y="0"/>
                </a:lnTo>
                <a:lnTo>
                  <a:pt x="21808241"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HE SHIFT"/>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Shift</a:t>
            </a:r>
          </a:p>
        </p:txBody>
      </p:sp>
      <p:grpSp>
        <p:nvGrpSpPr>
          <p:cNvPr id="4" name="Group 4"/>
          <p:cNvGrpSpPr/>
          <p:nvPr/>
        </p:nvGrpSpPr>
        <p:grpSpPr>
          <a:xfrm>
            <a:off x="55245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4506577"/>
            <a:ext cx="4808436" cy="5286660"/>
            <a:chOff x="0" y="0"/>
            <a:chExt cx="1306226" cy="1357088"/>
          </a:xfrm>
        </p:grpSpPr>
        <p:sp>
          <p:nvSpPr>
            <p:cNvPr id="8" name="Freeform 8"/>
            <p:cNvSpPr/>
            <p:nvPr/>
          </p:nvSpPr>
          <p:spPr>
            <a:xfrm>
              <a:off x="0" y="0"/>
              <a:ext cx="1306226" cy="1357088"/>
            </a:xfrm>
            <a:custGeom>
              <a:avLst/>
              <a:gdLst/>
              <a:ahLst/>
              <a:cxnLst/>
              <a:rect l="l" t="t" r="r" b="b"/>
              <a:pathLst>
                <a:path w="1306226" h="1357088">
                  <a:moveTo>
                    <a:pt x="32201" y="0"/>
                  </a:moveTo>
                  <a:lnTo>
                    <a:pt x="1274025" y="0"/>
                  </a:lnTo>
                  <a:cubicBezTo>
                    <a:pt x="1291809" y="0"/>
                    <a:pt x="1306226" y="14417"/>
                    <a:pt x="1306226" y="32201"/>
                  </a:cubicBezTo>
                  <a:lnTo>
                    <a:pt x="1306226" y="1324887"/>
                  </a:lnTo>
                  <a:cubicBezTo>
                    <a:pt x="1306226" y="1342671"/>
                    <a:pt x="1291809" y="1357088"/>
                    <a:pt x="1274025" y="1357088"/>
                  </a:cubicBezTo>
                  <a:lnTo>
                    <a:pt x="32201" y="1357088"/>
                  </a:lnTo>
                  <a:cubicBezTo>
                    <a:pt x="14417" y="1357088"/>
                    <a:pt x="0" y="1342671"/>
                    <a:pt x="0" y="1324887"/>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2222"/>
            <p:cNvSpPr txBox="1"/>
            <p:nvPr/>
          </p:nvSpPr>
          <p:spPr>
            <a:xfrm>
              <a:off x="0" y="-38100"/>
              <a:ext cx="1306226" cy="1395188"/>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CONTENT_BOX"/>
          <p:cNvSpPr txBox="1"/>
          <p:nvPr/>
        </p:nvSpPr>
        <p:spPr>
          <a:xfrm>
            <a:off x="1737573" y="1988929"/>
            <a:ext cx="14737340" cy="2089023"/>
          </a:xfrm>
          <a:prstGeom prst="rect">
            <a:avLst/>
          </a:prstGeom>
        </p:spPr>
        <p:txBody>
          <a:bodyPr lIns="0" tIns="0" rIns="0" bIns="0" rtlCol="0" anchor="t">
            <a:spAutoFit/>
          </a:bodyPr>
          <a:lstStyle/>
          <a:p>
            <a:pPr algn="l">
              <a:lnSpc>
                <a:spcPts val="3365"/>
              </a:lnSpc>
            </a:pPr>
            <a:r>
              <a:rPr lang="en-US" sz="2199" dirty="0">
                <a:solidFill>
                  <a:srgbClr val="FFFFFF"/>
                </a:solidFill>
                <a:latin typeface="Poppins"/>
                <a:ea typeface="Poppins"/>
                <a:cs typeface="Poppins"/>
                <a:sym typeface="Poppins"/>
              </a:rPr>
              <a:t>AI enables personalized experiences by tailoring products and services to individual needs and preferences. This creates a more relevant and engaging customer journey.AI enables personalized experiences by tailoring products and services to individual needs and preferences. This creates a more relevant and engaging customer journey.AI enables personalized experiences by tailoring products and services to individual needs and preferences. This creates a more relevant and engaging customer </a:t>
            </a:r>
          </a:p>
        </p:txBody>
      </p:sp>
      <p:sp>
        <p:nvSpPr>
          <p:cNvPr id="11" name="BULLET_1"/>
          <p:cNvSpPr txBox="1"/>
          <p:nvPr/>
        </p:nvSpPr>
        <p:spPr>
          <a:xfrm>
            <a:off x="2083477" y="4890702"/>
            <a:ext cx="4130504"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a:t>
            </a:r>
          </a:p>
        </p:txBody>
      </p:sp>
      <p:grpSp>
        <p:nvGrpSpPr>
          <p:cNvPr id="12" name="Group 12"/>
          <p:cNvGrpSpPr/>
          <p:nvPr/>
        </p:nvGrpSpPr>
        <p:grpSpPr>
          <a:xfrm>
            <a:off x="6705807" y="4506577"/>
            <a:ext cx="4768717" cy="5286660"/>
            <a:chOff x="0" y="0"/>
            <a:chExt cx="1295436" cy="1357088"/>
          </a:xfrm>
        </p:grpSpPr>
        <p:sp>
          <p:nvSpPr>
            <p:cNvPr id="13" name="Freeform 13"/>
            <p:cNvSpPr/>
            <p:nvPr/>
          </p:nvSpPr>
          <p:spPr>
            <a:xfrm>
              <a:off x="0" y="0"/>
              <a:ext cx="1295436" cy="1357088"/>
            </a:xfrm>
            <a:custGeom>
              <a:avLst/>
              <a:gdLst/>
              <a:ahLst/>
              <a:cxnLst/>
              <a:rect l="l" t="t" r="r" b="b"/>
              <a:pathLst>
                <a:path w="1295436" h="1357088">
                  <a:moveTo>
                    <a:pt x="32470" y="0"/>
                  </a:moveTo>
                  <a:lnTo>
                    <a:pt x="1262967" y="0"/>
                  </a:lnTo>
                  <a:cubicBezTo>
                    <a:pt x="1280899" y="0"/>
                    <a:pt x="1295436" y="14537"/>
                    <a:pt x="1295436" y="32470"/>
                  </a:cubicBezTo>
                  <a:lnTo>
                    <a:pt x="1295436" y="1324619"/>
                  </a:lnTo>
                  <a:cubicBezTo>
                    <a:pt x="1295436" y="1342551"/>
                    <a:pt x="1280899" y="1357088"/>
                    <a:pt x="1262967" y="1357088"/>
                  </a:cubicBezTo>
                  <a:lnTo>
                    <a:pt x="32470" y="1357088"/>
                  </a:lnTo>
                  <a:cubicBezTo>
                    <a:pt x="14537" y="1357088"/>
                    <a:pt x="0" y="1342551"/>
                    <a:pt x="0" y="1324619"/>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4" name="TextBox11111"/>
            <p:cNvSpPr txBox="1"/>
            <p:nvPr/>
          </p:nvSpPr>
          <p:spPr>
            <a:xfrm>
              <a:off x="0" y="-38100"/>
              <a:ext cx="1295436" cy="1395188"/>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5" name="BULLET_2"/>
          <p:cNvSpPr txBox="1"/>
          <p:nvPr/>
        </p:nvSpPr>
        <p:spPr>
          <a:xfrm>
            <a:off x="6972273" y="489070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7" name="Freeform 17"/>
          <p:cNvSpPr/>
          <p:nvPr/>
        </p:nvSpPr>
        <p:spPr>
          <a:xfrm>
            <a:off x="11506812" y="4506577"/>
            <a:ext cx="4783577" cy="5286660"/>
          </a:xfrm>
          <a:custGeom>
            <a:avLst/>
            <a:gdLst/>
            <a:ahLst/>
            <a:cxnLst/>
            <a:rect l="l" t="t" r="r" b="b"/>
            <a:pathLst>
              <a:path w="1299473" h="1357088">
                <a:moveTo>
                  <a:pt x="32369" y="0"/>
                </a:moveTo>
                <a:lnTo>
                  <a:pt x="1267104" y="0"/>
                </a:lnTo>
                <a:cubicBezTo>
                  <a:pt x="1284981" y="0"/>
                  <a:pt x="1299473" y="14492"/>
                  <a:pt x="1299473" y="32369"/>
                </a:cubicBezTo>
                <a:lnTo>
                  <a:pt x="1299473" y="1324720"/>
                </a:lnTo>
                <a:cubicBezTo>
                  <a:pt x="1299473" y="1342596"/>
                  <a:pt x="1284981" y="1357088"/>
                  <a:pt x="1267104" y="1357088"/>
                </a:cubicBezTo>
                <a:lnTo>
                  <a:pt x="32369" y="1357088"/>
                </a:lnTo>
                <a:cubicBezTo>
                  <a:pt x="14492" y="1357088"/>
                  <a:pt x="0" y="1342596"/>
                  <a:pt x="0" y="1324720"/>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9" name="BULLET_3"/>
          <p:cNvSpPr txBox="1"/>
          <p:nvPr/>
        </p:nvSpPr>
        <p:spPr>
          <a:xfrm>
            <a:off x="11765529" y="489070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p:cNvGrpSpPr/>
          <p:nvPr/>
        </p:nvGrpSpPr>
        <p:grpSpPr>
          <a:xfrm>
            <a:off x="8851478"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1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1 Pain Point 1 Pain Point 1 Pain Point 1 </a:t>
            </a:r>
          </a:p>
        </p:txBody>
      </p:sp>
      <p:grpSp>
        <p:nvGrpSpPr>
          <p:cNvPr id="8" name="Group 8"/>
          <p:cNvGrpSpPr/>
          <p:nvPr/>
        </p:nvGrpSpPr>
        <p:grpSpPr>
          <a:xfrm>
            <a:off x="1095811" y="2528073"/>
            <a:ext cx="14463264" cy="2058872"/>
            <a:chOff x="0" y="0"/>
            <a:chExt cx="3178298" cy="452436"/>
          </a:xfrm>
        </p:grpSpPr>
        <p:sp>
          <p:nvSpPr>
            <p:cNvPr id="9" name="Freeform 9"/>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p:cNvGrpSpPr/>
          <p:nvPr/>
        </p:nvGrpSpPr>
        <p:grpSpPr>
          <a:xfrm>
            <a:off x="1095810" y="4967745"/>
            <a:ext cx="14463263" cy="2058872"/>
            <a:chOff x="0" y="0"/>
            <a:chExt cx="3049922" cy="452436"/>
          </a:xfrm>
        </p:grpSpPr>
        <p:sp>
          <p:nvSpPr>
            <p:cNvPr id="12" name="Freeform 12"/>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p:cNvGrpSpPr/>
          <p:nvPr/>
        </p:nvGrpSpPr>
        <p:grpSpPr>
          <a:xfrm>
            <a:off x="1095811" y="7407416"/>
            <a:ext cx="14463262" cy="2058872"/>
            <a:chOff x="0" y="0"/>
            <a:chExt cx="2933461" cy="452436"/>
          </a:xfrm>
        </p:grpSpPr>
        <p:sp>
          <p:nvSpPr>
            <p:cNvPr id="15" name="Freeform 15"/>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a:extLst>
            <a:ext uri="{FF2B5EF4-FFF2-40B4-BE49-F238E27FC236}">
              <a16:creationId xmlns:a16="http://schemas.microsoft.com/office/drawing/2014/main" id="{48DFC376-AB27-8B3F-CFF8-77AFFC9DAF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B3FBB5-0FE5-829C-77A5-A2FBDCDCE92F}"/>
              </a:ext>
            </a:extLst>
          </p:cNvPr>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a:extLst>
              <a:ext uri="{FF2B5EF4-FFF2-40B4-BE49-F238E27FC236}">
                <a16:creationId xmlns:a16="http://schemas.microsoft.com/office/drawing/2014/main" id="{CA611C48-C58E-71FF-13DC-CD38158E2D73}"/>
              </a:ext>
            </a:extLst>
          </p:cNvPr>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a:extLst>
              <a:ext uri="{FF2B5EF4-FFF2-40B4-BE49-F238E27FC236}">
                <a16:creationId xmlns:a16="http://schemas.microsoft.com/office/drawing/2014/main" id="{5DBC0477-2201-97D2-2866-AA47ADA33F54}"/>
              </a:ext>
            </a:extLst>
          </p:cNvPr>
          <p:cNvGrpSpPr/>
          <p:nvPr/>
        </p:nvGrpSpPr>
        <p:grpSpPr>
          <a:xfrm>
            <a:off x="8851478" y="674589"/>
            <a:ext cx="14325371" cy="708223"/>
            <a:chOff x="0" y="0"/>
            <a:chExt cx="3772937" cy="186528"/>
          </a:xfrm>
        </p:grpSpPr>
        <p:sp>
          <p:nvSpPr>
            <p:cNvPr id="5" name="Freeform 5">
              <a:extLst>
                <a:ext uri="{FF2B5EF4-FFF2-40B4-BE49-F238E27FC236}">
                  <a16:creationId xmlns:a16="http://schemas.microsoft.com/office/drawing/2014/main" id="{224C949E-2649-CFFA-4399-3DCC8C101CAD}"/>
                </a:ext>
              </a:extLst>
            </p:cNvPr>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a:extLst>
                <a:ext uri="{FF2B5EF4-FFF2-40B4-BE49-F238E27FC236}">
                  <a16:creationId xmlns:a16="http://schemas.microsoft.com/office/drawing/2014/main" id="{23B3B2A5-5322-8ECE-D620-E9201060A514}"/>
                </a:ext>
              </a:extLst>
            </p:cNvPr>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2_TITLE">
            <a:extLst>
              <a:ext uri="{FF2B5EF4-FFF2-40B4-BE49-F238E27FC236}">
                <a16:creationId xmlns:a16="http://schemas.microsoft.com/office/drawing/2014/main" id="{4D7621E8-2952-4F0D-87FE-2DD6C16E6FAB}"/>
              </a:ext>
            </a:extLst>
          </p:cNvPr>
          <p:cNvSpPr txBox="1"/>
          <p:nvPr/>
        </p:nvSpPr>
        <p:spPr>
          <a:xfrm>
            <a:off x="1028700" y="1581923"/>
            <a:ext cx="15594199" cy="660437"/>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2 Pain Point 2 Pain Point 2 Pain Point 2 </a:t>
            </a:r>
          </a:p>
        </p:txBody>
      </p:sp>
      <p:grpSp>
        <p:nvGrpSpPr>
          <p:cNvPr id="8" name="Group 8">
            <a:extLst>
              <a:ext uri="{FF2B5EF4-FFF2-40B4-BE49-F238E27FC236}">
                <a16:creationId xmlns:a16="http://schemas.microsoft.com/office/drawing/2014/main" id="{71CB89CA-A8CB-D620-243D-20552022B661}"/>
              </a:ext>
            </a:extLst>
          </p:cNvPr>
          <p:cNvGrpSpPr/>
          <p:nvPr/>
        </p:nvGrpSpPr>
        <p:grpSpPr>
          <a:xfrm>
            <a:off x="1095811" y="2528073"/>
            <a:ext cx="14463264" cy="2058872"/>
            <a:chOff x="0" y="0"/>
            <a:chExt cx="3178298" cy="452436"/>
          </a:xfrm>
        </p:grpSpPr>
        <p:sp>
          <p:nvSpPr>
            <p:cNvPr id="9" name="Freeform 9">
              <a:extLst>
                <a:ext uri="{FF2B5EF4-FFF2-40B4-BE49-F238E27FC236}">
                  <a16:creationId xmlns:a16="http://schemas.microsoft.com/office/drawing/2014/main" id="{B95932C4-2CA4-B503-7E05-6BA81254DD6A}"/>
                </a:ext>
              </a:extLst>
            </p:cNvPr>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a:extLst>
                <a:ext uri="{FF2B5EF4-FFF2-40B4-BE49-F238E27FC236}">
                  <a16:creationId xmlns:a16="http://schemas.microsoft.com/office/drawing/2014/main" id="{5134B9EE-80A0-F32C-5B3C-254A533B7EDB}"/>
                </a:ext>
              </a:extLst>
            </p:cNvPr>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a:extLst>
              <a:ext uri="{FF2B5EF4-FFF2-40B4-BE49-F238E27FC236}">
                <a16:creationId xmlns:a16="http://schemas.microsoft.com/office/drawing/2014/main" id="{8D0EF9DC-4A70-949D-ACB7-481EE1E8F2BF}"/>
              </a:ext>
            </a:extLst>
          </p:cNvPr>
          <p:cNvGrpSpPr/>
          <p:nvPr/>
        </p:nvGrpSpPr>
        <p:grpSpPr>
          <a:xfrm>
            <a:off x="1095810" y="4967745"/>
            <a:ext cx="14463263" cy="2058872"/>
            <a:chOff x="0" y="0"/>
            <a:chExt cx="3049922" cy="452436"/>
          </a:xfrm>
        </p:grpSpPr>
        <p:sp>
          <p:nvSpPr>
            <p:cNvPr id="12" name="Freeform 12">
              <a:extLst>
                <a:ext uri="{FF2B5EF4-FFF2-40B4-BE49-F238E27FC236}">
                  <a16:creationId xmlns:a16="http://schemas.microsoft.com/office/drawing/2014/main" id="{C25B758C-F6F4-1EDE-7FAA-B94427972021}"/>
                </a:ext>
              </a:extLst>
            </p:cNvPr>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a:extLst>
                <a:ext uri="{FF2B5EF4-FFF2-40B4-BE49-F238E27FC236}">
                  <a16:creationId xmlns:a16="http://schemas.microsoft.com/office/drawing/2014/main" id="{EBA63A99-45DF-F313-C518-86C2D69F9023}"/>
                </a:ext>
              </a:extLst>
            </p:cNvPr>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a:extLst>
              <a:ext uri="{FF2B5EF4-FFF2-40B4-BE49-F238E27FC236}">
                <a16:creationId xmlns:a16="http://schemas.microsoft.com/office/drawing/2014/main" id="{3B2A44FA-F598-6398-8509-19174A2F9381}"/>
              </a:ext>
            </a:extLst>
          </p:cNvPr>
          <p:cNvGrpSpPr/>
          <p:nvPr/>
        </p:nvGrpSpPr>
        <p:grpSpPr>
          <a:xfrm>
            <a:off x="1095811" y="7407416"/>
            <a:ext cx="14463262" cy="2058872"/>
            <a:chOff x="0" y="0"/>
            <a:chExt cx="2933461" cy="452436"/>
          </a:xfrm>
        </p:grpSpPr>
        <p:sp>
          <p:nvSpPr>
            <p:cNvPr id="15" name="Freeform 15">
              <a:extLst>
                <a:ext uri="{FF2B5EF4-FFF2-40B4-BE49-F238E27FC236}">
                  <a16:creationId xmlns:a16="http://schemas.microsoft.com/office/drawing/2014/main" id="{9E234192-BC96-56AB-860A-049F81D883F6}"/>
                </a:ext>
              </a:extLst>
            </p:cNvPr>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a:extLst>
                <a:ext uri="{FF2B5EF4-FFF2-40B4-BE49-F238E27FC236}">
                  <a16:creationId xmlns:a16="http://schemas.microsoft.com/office/drawing/2014/main" id="{FCA19405-4981-7D36-9FC5-82A13CEE38CB}"/>
                </a:ext>
              </a:extLst>
            </p:cNvPr>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a:extLst>
              <a:ext uri="{FF2B5EF4-FFF2-40B4-BE49-F238E27FC236}">
                <a16:creationId xmlns:a16="http://schemas.microsoft.com/office/drawing/2014/main" id="{649A6C6F-F89D-52A4-AA42-B0043F67F773}"/>
              </a:ext>
            </a:extLst>
          </p:cNvPr>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a:extLst>
              <a:ext uri="{FF2B5EF4-FFF2-40B4-BE49-F238E27FC236}">
                <a16:creationId xmlns:a16="http://schemas.microsoft.com/office/drawing/2014/main" id="{D8784BAC-D428-C0A9-0E5F-3D11C80FF700}"/>
              </a:ext>
            </a:extLst>
          </p:cNvPr>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a:extLst>
              <a:ext uri="{FF2B5EF4-FFF2-40B4-BE49-F238E27FC236}">
                <a16:creationId xmlns:a16="http://schemas.microsoft.com/office/drawing/2014/main" id="{F7083B49-9976-25E3-C2E3-E56B524ED159}"/>
              </a:ext>
            </a:extLst>
          </p:cNvPr>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extLst>
      <p:ext uri="{BB962C8B-B14F-4D97-AF65-F5344CB8AC3E}">
        <p14:creationId xmlns:p14="http://schemas.microsoft.com/office/powerpoint/2010/main" val="373002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a:extLst>
            <a:ext uri="{FF2B5EF4-FFF2-40B4-BE49-F238E27FC236}">
              <a16:creationId xmlns:a16="http://schemas.microsoft.com/office/drawing/2014/main" id="{21B4B1A0-6244-FCCC-5912-2351B006B6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D26D44-FB1E-3906-DF65-88BECBBC5C56}"/>
              </a:ext>
            </a:extLst>
          </p:cNvPr>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a:extLst>
              <a:ext uri="{FF2B5EF4-FFF2-40B4-BE49-F238E27FC236}">
                <a16:creationId xmlns:a16="http://schemas.microsoft.com/office/drawing/2014/main" id="{E0B2E736-AD62-4744-E444-7D54EE2BF9A4}"/>
              </a:ext>
            </a:extLst>
          </p:cNvPr>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a:extLst>
              <a:ext uri="{FF2B5EF4-FFF2-40B4-BE49-F238E27FC236}">
                <a16:creationId xmlns:a16="http://schemas.microsoft.com/office/drawing/2014/main" id="{092DCC7B-AD3B-ABB7-A05B-C4600DCE243D}"/>
              </a:ext>
            </a:extLst>
          </p:cNvPr>
          <p:cNvGrpSpPr/>
          <p:nvPr/>
        </p:nvGrpSpPr>
        <p:grpSpPr>
          <a:xfrm>
            <a:off x="8851478" y="674589"/>
            <a:ext cx="14325371" cy="708223"/>
            <a:chOff x="0" y="0"/>
            <a:chExt cx="3772937" cy="186528"/>
          </a:xfrm>
        </p:grpSpPr>
        <p:sp>
          <p:nvSpPr>
            <p:cNvPr id="5" name="Freeform 5">
              <a:extLst>
                <a:ext uri="{FF2B5EF4-FFF2-40B4-BE49-F238E27FC236}">
                  <a16:creationId xmlns:a16="http://schemas.microsoft.com/office/drawing/2014/main" id="{BBC1CDE5-9C7D-BA74-2D61-6789AD6F8DFE}"/>
                </a:ext>
              </a:extLst>
            </p:cNvPr>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a:extLst>
                <a:ext uri="{FF2B5EF4-FFF2-40B4-BE49-F238E27FC236}">
                  <a16:creationId xmlns:a16="http://schemas.microsoft.com/office/drawing/2014/main" id="{6281B3F4-2730-D97D-DE2A-58FBA1058598}"/>
                </a:ext>
              </a:extLst>
            </p:cNvPr>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3_TITLE">
            <a:extLst>
              <a:ext uri="{FF2B5EF4-FFF2-40B4-BE49-F238E27FC236}">
                <a16:creationId xmlns:a16="http://schemas.microsoft.com/office/drawing/2014/main" id="{551CFCDF-28C4-1D32-CE48-70DE5092E56C}"/>
              </a:ext>
            </a:extLst>
          </p:cNvPr>
          <p:cNvSpPr txBox="1"/>
          <p:nvPr/>
        </p:nvSpPr>
        <p:spPr>
          <a:xfrm>
            <a:off x="1028700" y="1581923"/>
            <a:ext cx="15594199" cy="660437"/>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3 Pain Point 3 Pain Point 3 Pain Point 3 </a:t>
            </a:r>
          </a:p>
        </p:txBody>
      </p:sp>
      <p:grpSp>
        <p:nvGrpSpPr>
          <p:cNvPr id="8" name="Group 8">
            <a:extLst>
              <a:ext uri="{FF2B5EF4-FFF2-40B4-BE49-F238E27FC236}">
                <a16:creationId xmlns:a16="http://schemas.microsoft.com/office/drawing/2014/main" id="{8EC8F2C2-590F-C3D9-7DF6-E48ADD71F6C0}"/>
              </a:ext>
            </a:extLst>
          </p:cNvPr>
          <p:cNvGrpSpPr/>
          <p:nvPr/>
        </p:nvGrpSpPr>
        <p:grpSpPr>
          <a:xfrm>
            <a:off x="1095811" y="2528073"/>
            <a:ext cx="14463264" cy="2058872"/>
            <a:chOff x="0" y="0"/>
            <a:chExt cx="3178298" cy="452436"/>
          </a:xfrm>
        </p:grpSpPr>
        <p:sp>
          <p:nvSpPr>
            <p:cNvPr id="9" name="Freeform 9">
              <a:extLst>
                <a:ext uri="{FF2B5EF4-FFF2-40B4-BE49-F238E27FC236}">
                  <a16:creationId xmlns:a16="http://schemas.microsoft.com/office/drawing/2014/main" id="{4856A6D5-42EC-EE0C-8FF5-D15D218A2A86}"/>
                </a:ext>
              </a:extLst>
            </p:cNvPr>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a:extLst>
                <a:ext uri="{FF2B5EF4-FFF2-40B4-BE49-F238E27FC236}">
                  <a16:creationId xmlns:a16="http://schemas.microsoft.com/office/drawing/2014/main" id="{9AF51160-D57A-7871-853E-5F65E8B37DA2}"/>
                </a:ext>
              </a:extLst>
            </p:cNvPr>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a:extLst>
              <a:ext uri="{FF2B5EF4-FFF2-40B4-BE49-F238E27FC236}">
                <a16:creationId xmlns:a16="http://schemas.microsoft.com/office/drawing/2014/main" id="{FF388A50-57AE-3D07-BA7F-7C7FC6E4AA2E}"/>
              </a:ext>
            </a:extLst>
          </p:cNvPr>
          <p:cNvGrpSpPr/>
          <p:nvPr/>
        </p:nvGrpSpPr>
        <p:grpSpPr>
          <a:xfrm>
            <a:off x="1095810" y="4967745"/>
            <a:ext cx="14463263" cy="2058872"/>
            <a:chOff x="0" y="0"/>
            <a:chExt cx="3049922" cy="452436"/>
          </a:xfrm>
        </p:grpSpPr>
        <p:sp>
          <p:nvSpPr>
            <p:cNvPr id="12" name="Freeform 12">
              <a:extLst>
                <a:ext uri="{FF2B5EF4-FFF2-40B4-BE49-F238E27FC236}">
                  <a16:creationId xmlns:a16="http://schemas.microsoft.com/office/drawing/2014/main" id="{5F150B45-F5D2-7746-D04A-B13BD3665344}"/>
                </a:ext>
              </a:extLst>
            </p:cNvPr>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a:extLst>
                <a:ext uri="{FF2B5EF4-FFF2-40B4-BE49-F238E27FC236}">
                  <a16:creationId xmlns:a16="http://schemas.microsoft.com/office/drawing/2014/main" id="{26FDD218-A8B9-804A-6375-C604C105FC2B}"/>
                </a:ext>
              </a:extLst>
            </p:cNvPr>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a:extLst>
              <a:ext uri="{FF2B5EF4-FFF2-40B4-BE49-F238E27FC236}">
                <a16:creationId xmlns:a16="http://schemas.microsoft.com/office/drawing/2014/main" id="{3201CCFB-006B-D7DA-3E3A-8C38B50D039E}"/>
              </a:ext>
            </a:extLst>
          </p:cNvPr>
          <p:cNvGrpSpPr/>
          <p:nvPr/>
        </p:nvGrpSpPr>
        <p:grpSpPr>
          <a:xfrm>
            <a:off x="1095811" y="7407416"/>
            <a:ext cx="14463262" cy="2058872"/>
            <a:chOff x="0" y="0"/>
            <a:chExt cx="2933461" cy="452436"/>
          </a:xfrm>
        </p:grpSpPr>
        <p:sp>
          <p:nvSpPr>
            <p:cNvPr id="15" name="Freeform 15">
              <a:extLst>
                <a:ext uri="{FF2B5EF4-FFF2-40B4-BE49-F238E27FC236}">
                  <a16:creationId xmlns:a16="http://schemas.microsoft.com/office/drawing/2014/main" id="{3420DB5F-BB14-ED8B-E12C-DE386E7CEAA3}"/>
                </a:ext>
              </a:extLst>
            </p:cNvPr>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a:extLst>
                <a:ext uri="{FF2B5EF4-FFF2-40B4-BE49-F238E27FC236}">
                  <a16:creationId xmlns:a16="http://schemas.microsoft.com/office/drawing/2014/main" id="{27157E8B-5E0B-F24E-0A52-6645B322FBC0}"/>
                </a:ext>
              </a:extLst>
            </p:cNvPr>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a:extLst>
              <a:ext uri="{FF2B5EF4-FFF2-40B4-BE49-F238E27FC236}">
                <a16:creationId xmlns:a16="http://schemas.microsoft.com/office/drawing/2014/main" id="{68DA1AFB-6AA8-1B10-7158-F08C29903C2A}"/>
              </a:ext>
            </a:extLst>
          </p:cNvPr>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a:extLst>
              <a:ext uri="{FF2B5EF4-FFF2-40B4-BE49-F238E27FC236}">
                <a16:creationId xmlns:a16="http://schemas.microsoft.com/office/drawing/2014/main" id="{F747B584-1B96-5300-AEE3-162666C96CAC}"/>
              </a:ext>
            </a:extLst>
          </p:cNvPr>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a:extLst>
              <a:ext uri="{FF2B5EF4-FFF2-40B4-BE49-F238E27FC236}">
                <a16:creationId xmlns:a16="http://schemas.microsoft.com/office/drawing/2014/main" id="{BEC2A0A7-2AB5-9C68-43C8-C48480057998}"/>
              </a:ext>
            </a:extLst>
          </p:cNvPr>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extLst>
      <p:ext uri="{BB962C8B-B14F-4D97-AF65-F5344CB8AC3E}">
        <p14:creationId xmlns:p14="http://schemas.microsoft.com/office/powerpoint/2010/main" val="392808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3261937" y="553578"/>
            <a:ext cx="21808241" cy="17995804"/>
          </a:xfrm>
          <a:custGeom>
            <a:avLst/>
            <a:gdLst/>
            <a:ahLst/>
            <a:cxnLst/>
            <a:rect l="l" t="t" r="r" b="b"/>
            <a:pathLst>
              <a:path w="21808241" h="17995804">
                <a:moveTo>
                  <a:pt x="0" y="0"/>
                </a:moveTo>
                <a:lnTo>
                  <a:pt x="21808240" y="0"/>
                </a:lnTo>
                <a:lnTo>
                  <a:pt x="21808240"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grpSp>
        <p:nvGrpSpPr>
          <p:cNvPr id="3" name="Group 3"/>
          <p:cNvGrpSpPr/>
          <p:nvPr/>
        </p:nvGrpSpPr>
        <p:grpSpPr>
          <a:xfrm>
            <a:off x="8921473" y="1766690"/>
            <a:ext cx="1237864" cy="1237864"/>
            <a:chOff x="0" y="0"/>
            <a:chExt cx="499808" cy="499808"/>
          </a:xfrm>
        </p:grpSpPr>
        <p:sp>
          <p:nvSpPr>
            <p:cNvPr id="4" name="Freeform 4"/>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5" name="TextBox 5"/>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6" name="Group 6"/>
          <p:cNvGrpSpPr/>
          <p:nvPr/>
        </p:nvGrpSpPr>
        <p:grpSpPr>
          <a:xfrm>
            <a:off x="8921473" y="3962888"/>
            <a:ext cx="1237864" cy="1237864"/>
            <a:chOff x="0" y="0"/>
            <a:chExt cx="499808" cy="499808"/>
          </a:xfrm>
        </p:grpSpPr>
        <p:sp>
          <p:nvSpPr>
            <p:cNvPr id="7" name="Freeform 7"/>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8" name="TextBox 8"/>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9" name="Group 9"/>
          <p:cNvGrpSpPr/>
          <p:nvPr/>
        </p:nvGrpSpPr>
        <p:grpSpPr>
          <a:xfrm>
            <a:off x="1028700" y="1937320"/>
            <a:ext cx="6744083" cy="3769416"/>
            <a:chOff x="0" y="0"/>
            <a:chExt cx="1757610" cy="982367"/>
          </a:xfrm>
        </p:grpSpPr>
        <p:sp>
          <p:nvSpPr>
            <p:cNvPr id="10" name="Freeform 10"/>
            <p:cNvSpPr/>
            <p:nvPr/>
          </p:nvSpPr>
          <p:spPr>
            <a:xfrm>
              <a:off x="0" y="0"/>
              <a:ext cx="1757610" cy="982367"/>
            </a:xfrm>
            <a:custGeom>
              <a:avLst/>
              <a:gdLst/>
              <a:ahLst/>
              <a:cxnLst/>
              <a:rect l="l" t="t" r="r" b="b"/>
              <a:pathLst>
                <a:path w="1757610" h="982367">
                  <a:moveTo>
                    <a:pt x="22959" y="0"/>
                  </a:moveTo>
                  <a:lnTo>
                    <a:pt x="1734651" y="0"/>
                  </a:lnTo>
                  <a:cubicBezTo>
                    <a:pt x="1747331" y="0"/>
                    <a:pt x="1757610" y="10279"/>
                    <a:pt x="1757610" y="22959"/>
                  </a:cubicBezTo>
                  <a:lnTo>
                    <a:pt x="1757610" y="959408"/>
                  </a:lnTo>
                  <a:cubicBezTo>
                    <a:pt x="1757610" y="965497"/>
                    <a:pt x="1755191" y="971336"/>
                    <a:pt x="1750885" y="975642"/>
                  </a:cubicBezTo>
                  <a:cubicBezTo>
                    <a:pt x="1746580" y="979948"/>
                    <a:pt x="1740740" y="982367"/>
                    <a:pt x="1734651" y="982367"/>
                  </a:cubicBezTo>
                  <a:lnTo>
                    <a:pt x="22959" y="982367"/>
                  </a:lnTo>
                  <a:cubicBezTo>
                    <a:pt x="10279" y="982367"/>
                    <a:pt x="0" y="972088"/>
                    <a:pt x="0" y="959408"/>
                  </a:cubicBezTo>
                  <a:lnTo>
                    <a:pt x="0" y="22959"/>
                  </a:lnTo>
                  <a:cubicBezTo>
                    <a:pt x="0" y="10279"/>
                    <a:pt x="10279" y="0"/>
                    <a:pt x="22959" y="0"/>
                  </a:cubicBezTo>
                  <a:close/>
                </a:path>
              </a:pathLst>
            </a:custGeom>
            <a:solidFill>
              <a:srgbClr val="0F072A"/>
            </a:solidFill>
            <a:ln w="19050" cap="sq">
              <a:solidFill>
                <a:srgbClr val="FFFFFF"/>
              </a:solidFill>
              <a:prstDash val="solid"/>
              <a:miter/>
            </a:ln>
          </p:spPr>
          <p:txBody>
            <a:bodyPr/>
            <a:lstStyle/>
            <a:p>
              <a:endParaRPr lang="en-GB"/>
            </a:p>
          </p:txBody>
        </p:sp>
        <p:sp>
          <p:nvSpPr>
            <p:cNvPr id="11" name="TextBox 11"/>
            <p:cNvSpPr txBox="1"/>
            <p:nvPr/>
          </p:nvSpPr>
          <p:spPr>
            <a:xfrm>
              <a:off x="0" y="-38100"/>
              <a:ext cx="1757610" cy="1020467"/>
            </a:xfrm>
            <a:prstGeom prst="rect">
              <a:avLst/>
            </a:prstGeom>
          </p:spPr>
          <p:txBody>
            <a:bodyPr lIns="50800" tIns="50800" rIns="50800" bIns="50800" rtlCol="0" anchor="ctr"/>
            <a:lstStyle/>
            <a:p>
              <a:pPr algn="ctr">
                <a:lnSpc>
                  <a:spcPts val="3157"/>
                </a:lnSpc>
              </a:pPr>
              <a:endParaRPr/>
            </a:p>
          </p:txBody>
        </p:sp>
      </p:grpSp>
      <p:grpSp>
        <p:nvGrpSpPr>
          <p:cNvPr id="12" name="Group 12"/>
          <p:cNvGrpSpPr/>
          <p:nvPr/>
        </p:nvGrpSpPr>
        <p:grpSpPr>
          <a:xfrm>
            <a:off x="8921473" y="6094587"/>
            <a:ext cx="1237864" cy="1237864"/>
            <a:chOff x="0" y="0"/>
            <a:chExt cx="499808" cy="499808"/>
          </a:xfrm>
        </p:grpSpPr>
        <p:sp>
          <p:nvSpPr>
            <p:cNvPr id="13" name="Freeform 13"/>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14" name="TextBox 14"/>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15" name="Group 15"/>
          <p:cNvGrpSpPr/>
          <p:nvPr/>
        </p:nvGrpSpPr>
        <p:grpSpPr>
          <a:xfrm>
            <a:off x="8921473" y="8210936"/>
            <a:ext cx="1237864" cy="1237864"/>
            <a:chOff x="0" y="0"/>
            <a:chExt cx="499808" cy="499808"/>
          </a:xfrm>
        </p:grpSpPr>
        <p:sp>
          <p:nvSpPr>
            <p:cNvPr id="16" name="Freeform 16"/>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17" name="TextBox 17"/>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sp>
        <p:nvSpPr>
          <p:cNvPr id="18" name="Freeform 18"/>
          <p:cNvSpPr/>
          <p:nvPr/>
        </p:nvSpPr>
        <p:spPr>
          <a:xfrm>
            <a:off x="9057945" y="1896435"/>
            <a:ext cx="964920" cy="978373"/>
          </a:xfrm>
          <a:custGeom>
            <a:avLst/>
            <a:gdLst/>
            <a:ahLst/>
            <a:cxnLst/>
            <a:rect l="l" t="t" r="r" b="b"/>
            <a:pathLst>
              <a:path w="964920" h="978373">
                <a:moveTo>
                  <a:pt x="0" y="0"/>
                </a:moveTo>
                <a:lnTo>
                  <a:pt x="964920" y="0"/>
                </a:lnTo>
                <a:lnTo>
                  <a:pt x="964920" y="978373"/>
                </a:lnTo>
                <a:lnTo>
                  <a:pt x="0" y="9783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9" name="Freeform 19"/>
          <p:cNvSpPr/>
          <p:nvPr/>
        </p:nvSpPr>
        <p:spPr>
          <a:xfrm>
            <a:off x="9017909" y="4092633"/>
            <a:ext cx="1044991" cy="978373"/>
          </a:xfrm>
          <a:custGeom>
            <a:avLst/>
            <a:gdLst/>
            <a:ahLst/>
            <a:cxnLst/>
            <a:rect l="l" t="t" r="r" b="b"/>
            <a:pathLst>
              <a:path w="1044991" h="978373">
                <a:moveTo>
                  <a:pt x="0" y="0"/>
                </a:moveTo>
                <a:lnTo>
                  <a:pt x="1044992" y="0"/>
                </a:lnTo>
                <a:lnTo>
                  <a:pt x="1044992" y="978373"/>
                </a:lnTo>
                <a:lnTo>
                  <a:pt x="0" y="9783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20" name="Freeform 20"/>
          <p:cNvSpPr/>
          <p:nvPr/>
        </p:nvSpPr>
        <p:spPr>
          <a:xfrm>
            <a:off x="8992910" y="6214580"/>
            <a:ext cx="1094990" cy="944429"/>
          </a:xfrm>
          <a:custGeom>
            <a:avLst/>
            <a:gdLst/>
            <a:ahLst/>
            <a:cxnLst/>
            <a:rect l="l" t="t" r="r" b="b"/>
            <a:pathLst>
              <a:path w="1094990" h="944429">
                <a:moveTo>
                  <a:pt x="0" y="0"/>
                </a:moveTo>
                <a:lnTo>
                  <a:pt x="1094990" y="0"/>
                </a:lnTo>
                <a:lnTo>
                  <a:pt x="1094990" y="944428"/>
                </a:lnTo>
                <a:lnTo>
                  <a:pt x="0" y="94442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1" name="Freeform 21"/>
          <p:cNvSpPr/>
          <p:nvPr/>
        </p:nvSpPr>
        <p:spPr>
          <a:xfrm>
            <a:off x="9094718" y="8270834"/>
            <a:ext cx="848334" cy="1118068"/>
          </a:xfrm>
          <a:custGeom>
            <a:avLst/>
            <a:gdLst/>
            <a:ahLst/>
            <a:cxnLst/>
            <a:rect l="l" t="t" r="r" b="b"/>
            <a:pathLst>
              <a:path w="848334" h="1118068">
                <a:moveTo>
                  <a:pt x="0" y="0"/>
                </a:moveTo>
                <a:lnTo>
                  <a:pt x="848334" y="0"/>
                </a:lnTo>
                <a:lnTo>
                  <a:pt x="848334" y="1118068"/>
                </a:lnTo>
                <a:lnTo>
                  <a:pt x="0" y="11180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22" name="TextBox 22"/>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About IntentHQ</a:t>
            </a:r>
          </a:p>
        </p:txBody>
      </p:sp>
      <p:sp>
        <p:nvSpPr>
          <p:cNvPr id="23" name="TextBox 23"/>
          <p:cNvSpPr txBox="1"/>
          <p:nvPr/>
        </p:nvSpPr>
        <p:spPr>
          <a:xfrm>
            <a:off x="10889751" y="2280220"/>
            <a:ext cx="5385843"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Extract and enrich behavioural signals from first-party (and partner) data with privacy guaranteed. </a:t>
            </a:r>
          </a:p>
        </p:txBody>
      </p:sp>
      <p:sp>
        <p:nvSpPr>
          <p:cNvPr id="24" name="TextBox 24"/>
          <p:cNvSpPr txBox="1"/>
          <p:nvPr/>
        </p:nvSpPr>
        <p:spPr>
          <a:xfrm>
            <a:off x="10889751" y="1632934"/>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Privacy-Safe Signals</a:t>
            </a:r>
          </a:p>
        </p:txBody>
      </p:sp>
      <p:sp>
        <p:nvSpPr>
          <p:cNvPr id="25" name="TextBox 25"/>
          <p:cNvSpPr txBox="1"/>
          <p:nvPr/>
        </p:nvSpPr>
        <p:spPr>
          <a:xfrm>
            <a:off x="10889751" y="4473703"/>
            <a:ext cx="566387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Turn those signals into productised, predictive “human-like” customer insights that teams can actually use.</a:t>
            </a:r>
          </a:p>
        </p:txBody>
      </p:sp>
      <p:sp>
        <p:nvSpPr>
          <p:cNvPr id="26" name="TextBox 26"/>
          <p:cNvSpPr txBox="1"/>
          <p:nvPr/>
        </p:nvSpPr>
        <p:spPr>
          <a:xfrm>
            <a:off x="10889751" y="3826418"/>
            <a:ext cx="3807561"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Human-Like Insights</a:t>
            </a:r>
          </a:p>
        </p:txBody>
      </p:sp>
      <p:sp>
        <p:nvSpPr>
          <p:cNvPr id="27" name="TextBox 27"/>
          <p:cNvSpPr txBox="1"/>
          <p:nvPr/>
        </p:nvSpPr>
        <p:spPr>
          <a:xfrm>
            <a:off x="10889751" y="6732154"/>
            <a:ext cx="566387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Use on-device Edge AI to understand users beyond-the-app and trigger the best moment to engage, in real time. </a:t>
            </a:r>
          </a:p>
        </p:txBody>
      </p:sp>
      <p:sp>
        <p:nvSpPr>
          <p:cNvPr id="28" name="TextBox 28"/>
          <p:cNvSpPr txBox="1"/>
          <p:nvPr/>
        </p:nvSpPr>
        <p:spPr>
          <a:xfrm>
            <a:off x="10889751" y="6084868"/>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In-the-Moment Engagement</a:t>
            </a:r>
          </a:p>
        </p:txBody>
      </p:sp>
      <p:sp>
        <p:nvSpPr>
          <p:cNvPr id="29" name="TextBox 29"/>
          <p:cNvSpPr txBox="1"/>
          <p:nvPr/>
        </p:nvSpPr>
        <p:spPr>
          <a:xfrm>
            <a:off x="10889751" y="8726509"/>
            <a:ext cx="652842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Operationalise insights into larger, smarter audiences and measurable outcomes across channels (connectors + activation).</a:t>
            </a:r>
          </a:p>
        </p:txBody>
      </p:sp>
      <p:sp>
        <p:nvSpPr>
          <p:cNvPr id="30" name="TextBox 30"/>
          <p:cNvSpPr txBox="1"/>
          <p:nvPr/>
        </p:nvSpPr>
        <p:spPr>
          <a:xfrm>
            <a:off x="10889751" y="8079224"/>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Audiences at Scale</a:t>
            </a:r>
          </a:p>
        </p:txBody>
      </p:sp>
      <p:sp>
        <p:nvSpPr>
          <p:cNvPr id="31" name="TextBox 31"/>
          <p:cNvSpPr txBox="1"/>
          <p:nvPr/>
        </p:nvSpPr>
        <p:spPr>
          <a:xfrm>
            <a:off x="1779789" y="2341440"/>
            <a:ext cx="5177840" cy="2937872"/>
          </a:xfrm>
          <a:prstGeom prst="rect">
            <a:avLst/>
          </a:prstGeom>
        </p:spPr>
        <p:txBody>
          <a:bodyPr lIns="0" tIns="0" rIns="0" bIns="0" rtlCol="0" anchor="t">
            <a:spAutoFit/>
          </a:bodyPr>
          <a:lstStyle/>
          <a:p>
            <a:pPr algn="l">
              <a:lnSpc>
                <a:spcPts val="3324"/>
              </a:lnSpc>
            </a:pPr>
            <a:r>
              <a:rPr lang="en-US" sz="2173">
                <a:solidFill>
                  <a:srgbClr val="FFFFFF"/>
                </a:solidFill>
                <a:latin typeface="Poppins"/>
                <a:ea typeface="Poppins"/>
                <a:cs typeface="Poppins"/>
                <a:sym typeface="Poppins"/>
              </a:rPr>
              <a:t>Intent HQ, is a visionary company redefining the landscape of AI and customer data analytics, firmly placing customer privacy at the heart of scalable, personalized marketing strategies and data monetisation.</a:t>
            </a:r>
          </a:p>
        </p:txBody>
      </p:sp>
      <p:grpSp>
        <p:nvGrpSpPr>
          <p:cNvPr id="32" name="Group 32"/>
          <p:cNvGrpSpPr/>
          <p:nvPr/>
        </p:nvGrpSpPr>
        <p:grpSpPr>
          <a:xfrm>
            <a:off x="8851478" y="674589"/>
            <a:ext cx="14325371" cy="708223"/>
            <a:chOff x="0" y="0"/>
            <a:chExt cx="3772937" cy="186528"/>
          </a:xfrm>
        </p:grpSpPr>
        <p:sp>
          <p:nvSpPr>
            <p:cNvPr id="33" name="Freeform 33"/>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34" name="TextBox 34"/>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35" name="Group 35"/>
          <p:cNvGrpSpPr/>
          <p:nvPr/>
        </p:nvGrpSpPr>
        <p:grpSpPr>
          <a:xfrm rot="-5400000">
            <a:off x="-2380193" y="9034791"/>
            <a:ext cx="6784181" cy="708223"/>
            <a:chOff x="0" y="0"/>
            <a:chExt cx="1786780" cy="186528"/>
          </a:xfrm>
        </p:grpSpPr>
        <p:sp>
          <p:nvSpPr>
            <p:cNvPr id="36" name="Freeform 36"/>
            <p:cNvSpPr/>
            <p:nvPr/>
          </p:nvSpPr>
          <p:spPr>
            <a:xfrm>
              <a:off x="0" y="0"/>
              <a:ext cx="1786780" cy="186528"/>
            </a:xfrm>
            <a:custGeom>
              <a:avLst/>
              <a:gdLst/>
              <a:ahLst/>
              <a:cxnLst/>
              <a:rect l="l" t="t" r="r" b="b"/>
              <a:pathLst>
                <a:path w="1786780" h="186528">
                  <a:moveTo>
                    <a:pt x="93264" y="0"/>
                  </a:moveTo>
                  <a:lnTo>
                    <a:pt x="1693516" y="0"/>
                  </a:lnTo>
                  <a:cubicBezTo>
                    <a:pt x="1745025" y="0"/>
                    <a:pt x="1786780" y="41756"/>
                    <a:pt x="1786780" y="93264"/>
                  </a:cubicBezTo>
                  <a:lnTo>
                    <a:pt x="1786780" y="93264"/>
                  </a:lnTo>
                  <a:cubicBezTo>
                    <a:pt x="1786780" y="144772"/>
                    <a:pt x="1745025" y="186528"/>
                    <a:pt x="1693516"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37" name="TextBox 37"/>
            <p:cNvSpPr txBox="1"/>
            <p:nvPr/>
          </p:nvSpPr>
          <p:spPr>
            <a:xfrm>
              <a:off x="0" y="-47625"/>
              <a:ext cx="1786780" cy="234153"/>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3261937" y="553578"/>
            <a:ext cx="21808241" cy="17995804"/>
          </a:xfrm>
          <a:custGeom>
            <a:avLst/>
            <a:gdLst/>
            <a:ahLst/>
            <a:cxnLst/>
            <a:rect l="l" t="t" r="r" b="b"/>
            <a:pathLst>
              <a:path w="21808241" h="17995804">
                <a:moveTo>
                  <a:pt x="0" y="0"/>
                </a:moveTo>
                <a:lnTo>
                  <a:pt x="21808240" y="0"/>
                </a:lnTo>
                <a:lnTo>
                  <a:pt x="21808240"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grpSp>
        <p:nvGrpSpPr>
          <p:cNvPr id="3" name="Group 3"/>
          <p:cNvGrpSpPr/>
          <p:nvPr/>
        </p:nvGrpSpPr>
        <p:grpSpPr>
          <a:xfrm>
            <a:off x="1219738" y="7775314"/>
            <a:ext cx="5152882" cy="2071230"/>
            <a:chOff x="0" y="0"/>
            <a:chExt cx="6870509" cy="2761640"/>
          </a:xfrm>
        </p:grpSpPr>
        <p:sp>
          <p:nvSpPr>
            <p:cNvPr id="4" name="Freeform 4"/>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a:off x="174108" y="1562637"/>
              <a:ext cx="2068782" cy="750159"/>
            </a:xfrm>
            <a:custGeom>
              <a:avLst/>
              <a:gdLst/>
              <a:ahLst/>
              <a:cxnLst/>
              <a:rect l="l" t="t" r="r" b="b"/>
              <a:pathLst>
                <a:path w="2068782" h="750159">
                  <a:moveTo>
                    <a:pt x="0" y="0"/>
                  </a:moveTo>
                  <a:lnTo>
                    <a:pt x="2068782" y="0"/>
                  </a:lnTo>
                  <a:lnTo>
                    <a:pt x="2068782" y="750160"/>
                  </a:lnTo>
                  <a:lnTo>
                    <a:pt x="0" y="750160"/>
                  </a:lnTo>
                  <a:lnTo>
                    <a:pt x="0" y="0"/>
                  </a:lnTo>
                  <a:close/>
                </a:path>
              </a:pathLst>
            </a:custGeom>
            <a:blipFill>
              <a:blip r:embed="rId6"/>
              <a:stretch>
                <a:fillRect l="-29239" t="-65517" r="-22943" b="-70557"/>
              </a:stretch>
            </a:blipFill>
          </p:spPr>
          <p:txBody>
            <a:bodyPr/>
            <a:lstStyle/>
            <a:p>
              <a:endParaRPr lang="en-GB"/>
            </a:p>
          </p:txBody>
        </p:sp>
        <p:sp>
          <p:nvSpPr>
            <p:cNvPr id="6" name="Freeform 6"/>
            <p:cNvSpPr/>
            <p:nvPr/>
          </p:nvSpPr>
          <p:spPr>
            <a:xfrm>
              <a:off x="2317166" y="658060"/>
              <a:ext cx="1675261" cy="1654737"/>
            </a:xfrm>
            <a:custGeom>
              <a:avLst/>
              <a:gdLst/>
              <a:ahLst/>
              <a:cxnLst/>
              <a:rect l="l" t="t" r="r" b="b"/>
              <a:pathLst>
                <a:path w="1675261" h="1654737">
                  <a:moveTo>
                    <a:pt x="0" y="0"/>
                  </a:moveTo>
                  <a:lnTo>
                    <a:pt x="1675261" y="0"/>
                  </a:lnTo>
                  <a:lnTo>
                    <a:pt x="1675261" y="1654737"/>
                  </a:lnTo>
                  <a:lnTo>
                    <a:pt x="0" y="1654737"/>
                  </a:lnTo>
                  <a:lnTo>
                    <a:pt x="0" y="0"/>
                  </a:lnTo>
                  <a:close/>
                </a:path>
              </a:pathLst>
            </a:custGeom>
            <a:blipFill>
              <a:blip r:embed="rId7"/>
              <a:stretch>
                <a:fillRect l="-68163" t="-16311" r="-66924" b="-17565"/>
              </a:stretch>
            </a:blipFill>
          </p:spPr>
          <p:txBody>
            <a:bodyPr/>
            <a:lstStyle/>
            <a:p>
              <a:endParaRPr lang="en-GB"/>
            </a:p>
          </p:txBody>
        </p:sp>
        <p:sp>
          <p:nvSpPr>
            <p:cNvPr id="7" name="Freeform 7"/>
            <p:cNvSpPr/>
            <p:nvPr/>
          </p:nvSpPr>
          <p:spPr>
            <a:xfrm>
              <a:off x="3583111" y="912479"/>
              <a:ext cx="3287398" cy="1849162"/>
            </a:xfrm>
            <a:custGeom>
              <a:avLst/>
              <a:gdLst/>
              <a:ahLst/>
              <a:cxnLst/>
              <a:rect l="l" t="t" r="r" b="b"/>
              <a:pathLst>
                <a:path w="3287398" h="1849162">
                  <a:moveTo>
                    <a:pt x="0" y="0"/>
                  </a:moveTo>
                  <a:lnTo>
                    <a:pt x="3287398" y="0"/>
                  </a:lnTo>
                  <a:lnTo>
                    <a:pt x="3287398" y="1849161"/>
                  </a:lnTo>
                  <a:lnTo>
                    <a:pt x="0" y="1849161"/>
                  </a:lnTo>
                  <a:lnTo>
                    <a:pt x="0" y="0"/>
                  </a:lnTo>
                  <a:close/>
                </a:path>
              </a:pathLst>
            </a:custGeom>
            <a:blipFill>
              <a:blip r:embed="rId8"/>
              <a:stretch>
                <a:fillRect/>
              </a:stretch>
            </a:blipFill>
          </p:spPr>
          <p:txBody>
            <a:bodyPr/>
            <a:lstStyle/>
            <a:p>
              <a:endParaRPr lang="en-GB"/>
            </a:p>
          </p:txBody>
        </p:sp>
        <p:sp>
          <p:nvSpPr>
            <p:cNvPr id="8" name="TextBox 8"/>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Trusted by Leading Global Organisations</a:t>
              </a:r>
            </a:p>
          </p:txBody>
        </p:sp>
      </p:grpSp>
      <p:grpSp>
        <p:nvGrpSpPr>
          <p:cNvPr id="9" name="Group 9"/>
          <p:cNvGrpSpPr/>
          <p:nvPr/>
        </p:nvGrpSpPr>
        <p:grpSpPr>
          <a:xfrm>
            <a:off x="6701577" y="7775314"/>
            <a:ext cx="4884846" cy="2016109"/>
            <a:chOff x="0" y="0"/>
            <a:chExt cx="6513128" cy="2688145"/>
          </a:xfrm>
        </p:grpSpPr>
        <p:sp>
          <p:nvSpPr>
            <p:cNvPr id="10" name="Freeform 10"/>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1" name="Freeform 11"/>
            <p:cNvSpPr/>
            <p:nvPr/>
          </p:nvSpPr>
          <p:spPr>
            <a:xfrm>
              <a:off x="439662" y="1245582"/>
              <a:ext cx="1275934" cy="763966"/>
            </a:xfrm>
            <a:custGeom>
              <a:avLst/>
              <a:gdLst/>
              <a:ahLst/>
              <a:cxnLst/>
              <a:rect l="l" t="t" r="r" b="b"/>
              <a:pathLst>
                <a:path w="1275934" h="763966">
                  <a:moveTo>
                    <a:pt x="0" y="0"/>
                  </a:moveTo>
                  <a:lnTo>
                    <a:pt x="1275934" y="0"/>
                  </a:lnTo>
                  <a:lnTo>
                    <a:pt x="1275934" y="763966"/>
                  </a:lnTo>
                  <a:lnTo>
                    <a:pt x="0" y="763966"/>
                  </a:lnTo>
                  <a:lnTo>
                    <a:pt x="0" y="0"/>
                  </a:lnTo>
                  <a:close/>
                </a:path>
              </a:pathLst>
            </a:custGeom>
            <a:blipFill>
              <a:blip r:embed="rId9"/>
              <a:stretch>
                <a:fillRect/>
              </a:stretch>
            </a:blipFill>
          </p:spPr>
          <p:txBody>
            <a:bodyPr/>
            <a:lstStyle/>
            <a:p>
              <a:endParaRPr lang="en-GB"/>
            </a:p>
          </p:txBody>
        </p:sp>
        <p:sp>
          <p:nvSpPr>
            <p:cNvPr id="12" name="Freeform 12"/>
            <p:cNvSpPr/>
            <p:nvPr/>
          </p:nvSpPr>
          <p:spPr>
            <a:xfrm>
              <a:off x="1682881" y="900430"/>
              <a:ext cx="2736039" cy="1436421"/>
            </a:xfrm>
            <a:custGeom>
              <a:avLst/>
              <a:gdLst/>
              <a:ahLst/>
              <a:cxnLst/>
              <a:rect l="l" t="t" r="r" b="b"/>
              <a:pathLst>
                <a:path w="2736039" h="1436421">
                  <a:moveTo>
                    <a:pt x="0" y="0"/>
                  </a:moveTo>
                  <a:lnTo>
                    <a:pt x="2736040" y="0"/>
                  </a:lnTo>
                  <a:lnTo>
                    <a:pt x="2736040" y="1436421"/>
                  </a:lnTo>
                  <a:lnTo>
                    <a:pt x="0" y="1436421"/>
                  </a:lnTo>
                  <a:lnTo>
                    <a:pt x="0" y="0"/>
                  </a:lnTo>
                  <a:close/>
                </a:path>
              </a:pathLst>
            </a:custGeom>
            <a:blipFill>
              <a:blip r:embed="rId10"/>
              <a:stretch>
                <a:fillRect/>
              </a:stretch>
            </a:blipFill>
          </p:spPr>
          <p:txBody>
            <a:bodyPr/>
            <a:lstStyle/>
            <a:p>
              <a:endParaRPr lang="en-GB"/>
            </a:p>
          </p:txBody>
        </p:sp>
        <p:sp>
          <p:nvSpPr>
            <p:cNvPr id="13" name="Freeform 13"/>
            <p:cNvSpPr/>
            <p:nvPr/>
          </p:nvSpPr>
          <p:spPr>
            <a:xfrm>
              <a:off x="4342721" y="882445"/>
              <a:ext cx="2010613" cy="1407429"/>
            </a:xfrm>
            <a:custGeom>
              <a:avLst/>
              <a:gdLst/>
              <a:ahLst/>
              <a:cxnLst/>
              <a:rect l="l" t="t" r="r" b="b"/>
              <a:pathLst>
                <a:path w="2010613" h="1407429">
                  <a:moveTo>
                    <a:pt x="0" y="0"/>
                  </a:moveTo>
                  <a:lnTo>
                    <a:pt x="2010613" y="0"/>
                  </a:lnTo>
                  <a:lnTo>
                    <a:pt x="2010613" y="1407429"/>
                  </a:lnTo>
                  <a:lnTo>
                    <a:pt x="0" y="1407429"/>
                  </a:lnTo>
                  <a:lnTo>
                    <a:pt x="0" y="0"/>
                  </a:lnTo>
                  <a:close/>
                </a:path>
              </a:pathLst>
            </a:custGeom>
            <a:blipFill>
              <a:blip r:embed="rId11"/>
              <a:stretch>
                <a:fillRect/>
              </a:stretch>
            </a:blipFill>
          </p:spPr>
          <p:txBody>
            <a:bodyPr/>
            <a:lstStyle/>
            <a:p>
              <a:endParaRPr lang="en-GB"/>
            </a:p>
          </p:txBody>
        </p:sp>
        <p:sp>
          <p:nvSpPr>
            <p:cNvPr id="14" name="TextBox 14"/>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Global Partnerships with Tech Leaders</a:t>
              </a:r>
            </a:p>
          </p:txBody>
        </p:sp>
      </p:grpSp>
      <p:grpSp>
        <p:nvGrpSpPr>
          <p:cNvPr id="15" name="Group 15"/>
          <p:cNvGrpSpPr/>
          <p:nvPr/>
        </p:nvGrpSpPr>
        <p:grpSpPr>
          <a:xfrm>
            <a:off x="9234487" y="6204409"/>
            <a:ext cx="3829269" cy="1267464"/>
            <a:chOff x="0" y="0"/>
            <a:chExt cx="5105692" cy="1689952"/>
          </a:xfrm>
        </p:grpSpPr>
        <p:grpSp>
          <p:nvGrpSpPr>
            <p:cNvPr id="16" name="Group 16"/>
            <p:cNvGrpSpPr/>
            <p:nvPr/>
          </p:nvGrpSpPr>
          <p:grpSpPr>
            <a:xfrm>
              <a:off x="0" y="0"/>
              <a:ext cx="5105692" cy="1689952"/>
              <a:chOff x="0" y="0"/>
              <a:chExt cx="1147771" cy="379905"/>
            </a:xfrm>
          </p:grpSpPr>
          <p:sp>
            <p:nvSpPr>
              <p:cNvPr id="17" name="Freeform 17"/>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18" name="TextBox 18"/>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19" name="TextBox 19"/>
            <p:cNvSpPr txBox="1"/>
            <p:nvPr/>
          </p:nvSpPr>
          <p:spPr>
            <a:xfrm>
              <a:off x="857180" y="470159"/>
              <a:ext cx="3391332"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120+ Customers Across Industries</a:t>
              </a:r>
            </a:p>
          </p:txBody>
        </p:sp>
      </p:grpSp>
      <p:grpSp>
        <p:nvGrpSpPr>
          <p:cNvPr id="20" name="Group 20"/>
          <p:cNvGrpSpPr/>
          <p:nvPr/>
        </p:nvGrpSpPr>
        <p:grpSpPr>
          <a:xfrm>
            <a:off x="13238993" y="6210447"/>
            <a:ext cx="3829269" cy="1267464"/>
            <a:chOff x="0" y="0"/>
            <a:chExt cx="5105692" cy="1689952"/>
          </a:xfrm>
        </p:grpSpPr>
        <p:grpSp>
          <p:nvGrpSpPr>
            <p:cNvPr id="21" name="Group 21"/>
            <p:cNvGrpSpPr/>
            <p:nvPr/>
          </p:nvGrpSpPr>
          <p:grpSpPr>
            <a:xfrm>
              <a:off x="0" y="0"/>
              <a:ext cx="5105692" cy="1689952"/>
              <a:chOff x="0" y="0"/>
              <a:chExt cx="1147771" cy="379905"/>
            </a:xfrm>
          </p:grpSpPr>
          <p:sp>
            <p:nvSpPr>
              <p:cNvPr id="22" name="Freeform 22"/>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23" name="TextBox 23"/>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24" name="TextBox 24"/>
            <p:cNvSpPr txBox="1"/>
            <p:nvPr/>
          </p:nvSpPr>
          <p:spPr>
            <a:xfrm>
              <a:off x="823979" y="652805"/>
              <a:ext cx="3457734"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37 Registered Patents</a:t>
              </a:r>
            </a:p>
          </p:txBody>
        </p:sp>
      </p:grpSp>
      <p:grpSp>
        <p:nvGrpSpPr>
          <p:cNvPr id="25" name="Group 25"/>
          <p:cNvGrpSpPr/>
          <p:nvPr/>
        </p:nvGrpSpPr>
        <p:grpSpPr>
          <a:xfrm>
            <a:off x="1219738" y="6204409"/>
            <a:ext cx="7843299" cy="1267464"/>
            <a:chOff x="0" y="0"/>
            <a:chExt cx="10457732" cy="1689952"/>
          </a:xfrm>
        </p:grpSpPr>
        <p:grpSp>
          <p:nvGrpSpPr>
            <p:cNvPr id="26" name="Group 26"/>
            <p:cNvGrpSpPr/>
            <p:nvPr/>
          </p:nvGrpSpPr>
          <p:grpSpPr>
            <a:xfrm>
              <a:off x="0" y="0"/>
              <a:ext cx="5105692" cy="1689952"/>
              <a:chOff x="0" y="0"/>
              <a:chExt cx="1147771" cy="379905"/>
            </a:xfrm>
          </p:grpSpPr>
          <p:sp>
            <p:nvSpPr>
              <p:cNvPr id="27" name="Freeform 27"/>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28" name="TextBox 28"/>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29" name="TextBox 29"/>
            <p:cNvSpPr txBox="1"/>
            <p:nvPr/>
          </p:nvSpPr>
          <p:spPr>
            <a:xfrm>
              <a:off x="857180" y="439831"/>
              <a:ext cx="3391332" cy="72132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&gt;$100M Technology Platform Investment</a:t>
              </a:r>
            </a:p>
          </p:txBody>
        </p:sp>
        <p:grpSp>
          <p:nvGrpSpPr>
            <p:cNvPr id="30" name="Group 30"/>
            <p:cNvGrpSpPr/>
            <p:nvPr/>
          </p:nvGrpSpPr>
          <p:grpSpPr>
            <a:xfrm>
              <a:off x="5352041" y="0"/>
              <a:ext cx="5105692" cy="1689952"/>
              <a:chOff x="0" y="0"/>
              <a:chExt cx="1147771" cy="379905"/>
            </a:xfrm>
          </p:grpSpPr>
          <p:sp>
            <p:nvSpPr>
              <p:cNvPr id="31" name="Freeform 31"/>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32" name="TextBox 32"/>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33" name="TextBox 33"/>
            <p:cNvSpPr txBox="1"/>
            <p:nvPr/>
          </p:nvSpPr>
          <p:spPr>
            <a:xfrm>
              <a:off x="6285486" y="430441"/>
              <a:ext cx="3391332"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100+ Employees Across the World</a:t>
              </a:r>
            </a:p>
          </p:txBody>
        </p:sp>
      </p:grpSp>
      <p:grpSp>
        <p:nvGrpSpPr>
          <p:cNvPr id="34" name="Group 34"/>
          <p:cNvGrpSpPr/>
          <p:nvPr/>
        </p:nvGrpSpPr>
        <p:grpSpPr>
          <a:xfrm>
            <a:off x="12183416" y="7894470"/>
            <a:ext cx="4884846" cy="2016109"/>
            <a:chOff x="0" y="0"/>
            <a:chExt cx="6513128" cy="2688145"/>
          </a:xfrm>
        </p:grpSpPr>
        <p:sp>
          <p:nvSpPr>
            <p:cNvPr id="35" name="Freeform 35"/>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6" name="TextBox 36"/>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Global Offices </a:t>
              </a:r>
            </a:p>
          </p:txBody>
        </p:sp>
        <p:sp>
          <p:nvSpPr>
            <p:cNvPr id="37" name="TextBox 37"/>
            <p:cNvSpPr txBox="1"/>
            <p:nvPr/>
          </p:nvSpPr>
          <p:spPr>
            <a:xfrm>
              <a:off x="315988" y="993570"/>
              <a:ext cx="3078661" cy="862507"/>
            </a:xfrm>
            <a:prstGeom prst="rect">
              <a:avLst/>
            </a:prstGeom>
          </p:spPr>
          <p:txBody>
            <a:bodyPr lIns="0" tIns="0" rIns="0" bIns="0" rtlCol="0" anchor="t">
              <a:spAutoFit/>
            </a:bodyPr>
            <a:lstStyle/>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Kingdom</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States</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Singapore</a:t>
              </a:r>
            </a:p>
          </p:txBody>
        </p:sp>
        <p:sp>
          <p:nvSpPr>
            <p:cNvPr id="38" name="TextBox 38"/>
            <p:cNvSpPr txBox="1"/>
            <p:nvPr/>
          </p:nvSpPr>
          <p:spPr>
            <a:xfrm>
              <a:off x="3155236" y="993570"/>
              <a:ext cx="3078661" cy="862507"/>
            </a:xfrm>
            <a:prstGeom prst="rect">
              <a:avLst/>
            </a:prstGeom>
          </p:spPr>
          <p:txBody>
            <a:bodyPr lIns="0" tIns="0" rIns="0" bIns="0" rtlCol="0" anchor="t">
              <a:spAutoFit/>
            </a:bodyPr>
            <a:lstStyle/>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Spain</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Portugal</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Arab Emirates</a:t>
              </a:r>
            </a:p>
          </p:txBody>
        </p:sp>
      </p:grpSp>
      <p:grpSp>
        <p:nvGrpSpPr>
          <p:cNvPr id="39" name="Group 39"/>
          <p:cNvGrpSpPr/>
          <p:nvPr/>
        </p:nvGrpSpPr>
        <p:grpSpPr>
          <a:xfrm>
            <a:off x="1219738" y="1792359"/>
            <a:ext cx="15848524" cy="4107250"/>
            <a:chOff x="0" y="0"/>
            <a:chExt cx="4174097" cy="1081745"/>
          </a:xfrm>
        </p:grpSpPr>
        <p:sp>
          <p:nvSpPr>
            <p:cNvPr id="40" name="Freeform 40"/>
            <p:cNvSpPr/>
            <p:nvPr/>
          </p:nvSpPr>
          <p:spPr>
            <a:xfrm>
              <a:off x="0" y="0"/>
              <a:ext cx="4174097" cy="1081745"/>
            </a:xfrm>
            <a:custGeom>
              <a:avLst/>
              <a:gdLst/>
              <a:ahLst/>
              <a:cxnLst/>
              <a:rect l="l" t="t" r="r" b="b"/>
              <a:pathLst>
                <a:path w="4174097" h="1081745">
                  <a:moveTo>
                    <a:pt x="24913" y="0"/>
                  </a:moveTo>
                  <a:lnTo>
                    <a:pt x="4149184" y="0"/>
                  </a:lnTo>
                  <a:cubicBezTo>
                    <a:pt x="4155791" y="0"/>
                    <a:pt x="4162128" y="2625"/>
                    <a:pt x="4166800" y="7297"/>
                  </a:cubicBezTo>
                  <a:cubicBezTo>
                    <a:pt x="4171472" y="11969"/>
                    <a:pt x="4174097" y="18306"/>
                    <a:pt x="4174097" y="24913"/>
                  </a:cubicBezTo>
                  <a:lnTo>
                    <a:pt x="4174097" y="1056832"/>
                  </a:lnTo>
                  <a:cubicBezTo>
                    <a:pt x="4174097" y="1063439"/>
                    <a:pt x="4171472" y="1069776"/>
                    <a:pt x="4166800" y="1074448"/>
                  </a:cubicBezTo>
                  <a:cubicBezTo>
                    <a:pt x="4162128" y="1079120"/>
                    <a:pt x="4155791" y="1081745"/>
                    <a:pt x="4149184" y="1081745"/>
                  </a:cubicBezTo>
                  <a:lnTo>
                    <a:pt x="24913" y="1081745"/>
                  </a:lnTo>
                  <a:cubicBezTo>
                    <a:pt x="18306" y="1081745"/>
                    <a:pt x="11969" y="1079120"/>
                    <a:pt x="7297" y="1074448"/>
                  </a:cubicBezTo>
                  <a:cubicBezTo>
                    <a:pt x="2625" y="1069776"/>
                    <a:pt x="0" y="1063439"/>
                    <a:pt x="0" y="1056832"/>
                  </a:cubicBezTo>
                  <a:lnTo>
                    <a:pt x="0" y="24913"/>
                  </a:lnTo>
                  <a:cubicBezTo>
                    <a:pt x="0" y="18306"/>
                    <a:pt x="2625" y="11969"/>
                    <a:pt x="7297" y="7297"/>
                  </a:cubicBezTo>
                  <a:cubicBezTo>
                    <a:pt x="11969" y="2625"/>
                    <a:pt x="18306" y="0"/>
                    <a:pt x="24913" y="0"/>
                  </a:cubicBezTo>
                  <a:close/>
                </a:path>
              </a:pathLst>
            </a:custGeom>
            <a:solidFill>
              <a:srgbClr val="FFFFFF">
                <a:alpha val="89804"/>
              </a:srgbClr>
            </a:solidFill>
          </p:spPr>
          <p:txBody>
            <a:bodyPr/>
            <a:lstStyle/>
            <a:p>
              <a:endParaRPr lang="en-GB"/>
            </a:p>
          </p:txBody>
        </p:sp>
        <p:sp>
          <p:nvSpPr>
            <p:cNvPr id="41" name="TextBox 41"/>
            <p:cNvSpPr txBox="1"/>
            <p:nvPr/>
          </p:nvSpPr>
          <p:spPr>
            <a:xfrm>
              <a:off x="0" y="-38100"/>
              <a:ext cx="4174097" cy="1119845"/>
            </a:xfrm>
            <a:prstGeom prst="rect">
              <a:avLst/>
            </a:prstGeom>
          </p:spPr>
          <p:txBody>
            <a:bodyPr lIns="50800" tIns="50800" rIns="50800" bIns="50800" rtlCol="0" anchor="ctr"/>
            <a:lstStyle/>
            <a:p>
              <a:pPr algn="ctr">
                <a:lnSpc>
                  <a:spcPts val="3157"/>
                </a:lnSpc>
              </a:pPr>
              <a:endParaRPr/>
            </a:p>
          </p:txBody>
        </p:sp>
      </p:grpSp>
      <p:sp>
        <p:nvSpPr>
          <p:cNvPr id="42" name="Freeform 42"/>
          <p:cNvSpPr/>
          <p:nvPr/>
        </p:nvSpPr>
        <p:spPr>
          <a:xfrm>
            <a:off x="1553301" y="2055272"/>
            <a:ext cx="7994890" cy="1726663"/>
          </a:xfrm>
          <a:custGeom>
            <a:avLst/>
            <a:gdLst/>
            <a:ahLst/>
            <a:cxnLst/>
            <a:rect l="l" t="t" r="r" b="b"/>
            <a:pathLst>
              <a:path w="7994890" h="1726663">
                <a:moveTo>
                  <a:pt x="0" y="0"/>
                </a:moveTo>
                <a:lnTo>
                  <a:pt x="7994890" y="0"/>
                </a:lnTo>
                <a:lnTo>
                  <a:pt x="7994890" y="1726663"/>
                </a:lnTo>
                <a:lnTo>
                  <a:pt x="0" y="1726663"/>
                </a:lnTo>
                <a:lnTo>
                  <a:pt x="0" y="0"/>
                </a:lnTo>
                <a:close/>
              </a:path>
            </a:pathLst>
          </a:custGeom>
          <a:blipFill>
            <a:blip r:embed="rId12"/>
            <a:stretch>
              <a:fillRect l="-2121" r="-2121" b="-141335"/>
            </a:stretch>
          </a:blipFill>
        </p:spPr>
        <p:txBody>
          <a:bodyPr/>
          <a:lstStyle/>
          <a:p>
            <a:endParaRPr lang="en-GB"/>
          </a:p>
        </p:txBody>
      </p:sp>
      <p:sp>
        <p:nvSpPr>
          <p:cNvPr id="43" name="Freeform 43"/>
          <p:cNvSpPr/>
          <p:nvPr/>
        </p:nvSpPr>
        <p:spPr>
          <a:xfrm>
            <a:off x="1458051" y="3845984"/>
            <a:ext cx="8275976" cy="2047382"/>
          </a:xfrm>
          <a:custGeom>
            <a:avLst/>
            <a:gdLst/>
            <a:ahLst/>
            <a:cxnLst/>
            <a:rect l="l" t="t" r="r" b="b"/>
            <a:pathLst>
              <a:path w="8275976" h="2047382">
                <a:moveTo>
                  <a:pt x="0" y="0"/>
                </a:moveTo>
                <a:lnTo>
                  <a:pt x="8275976" y="0"/>
                </a:lnTo>
                <a:lnTo>
                  <a:pt x="8275976" y="2047381"/>
                </a:lnTo>
                <a:lnTo>
                  <a:pt x="0" y="2047381"/>
                </a:lnTo>
                <a:lnTo>
                  <a:pt x="0" y="0"/>
                </a:lnTo>
                <a:close/>
              </a:path>
            </a:pathLst>
          </a:custGeom>
          <a:blipFill>
            <a:blip r:embed="rId12"/>
            <a:stretch>
              <a:fillRect t="-89501" b="-12609"/>
            </a:stretch>
          </a:blipFill>
        </p:spPr>
        <p:txBody>
          <a:bodyPr/>
          <a:lstStyle/>
          <a:p>
            <a:endParaRPr lang="en-GB"/>
          </a:p>
        </p:txBody>
      </p:sp>
      <p:sp>
        <p:nvSpPr>
          <p:cNvPr id="44" name="Freeform 44"/>
          <p:cNvSpPr/>
          <p:nvPr/>
        </p:nvSpPr>
        <p:spPr>
          <a:xfrm>
            <a:off x="9710738" y="2089074"/>
            <a:ext cx="3606628" cy="3385722"/>
          </a:xfrm>
          <a:custGeom>
            <a:avLst/>
            <a:gdLst/>
            <a:ahLst/>
            <a:cxnLst/>
            <a:rect l="l" t="t" r="r" b="b"/>
            <a:pathLst>
              <a:path w="3606628" h="3385722">
                <a:moveTo>
                  <a:pt x="0" y="0"/>
                </a:moveTo>
                <a:lnTo>
                  <a:pt x="3606628" y="0"/>
                </a:lnTo>
                <a:lnTo>
                  <a:pt x="3606628" y="3385722"/>
                </a:lnTo>
                <a:lnTo>
                  <a:pt x="0" y="3385722"/>
                </a:lnTo>
                <a:lnTo>
                  <a:pt x="0" y="0"/>
                </a:lnTo>
                <a:close/>
              </a:path>
            </a:pathLst>
          </a:custGeom>
          <a:blipFill>
            <a:blip r:embed="rId13"/>
            <a:stretch>
              <a:fillRect/>
            </a:stretch>
          </a:blipFill>
        </p:spPr>
        <p:txBody>
          <a:bodyPr/>
          <a:lstStyle/>
          <a:p>
            <a:endParaRPr lang="en-GB"/>
          </a:p>
        </p:txBody>
      </p:sp>
      <p:sp>
        <p:nvSpPr>
          <p:cNvPr id="45" name="Freeform 45"/>
          <p:cNvSpPr/>
          <p:nvPr/>
        </p:nvSpPr>
        <p:spPr>
          <a:xfrm>
            <a:off x="13238993" y="2941802"/>
            <a:ext cx="3543279" cy="1342145"/>
          </a:xfrm>
          <a:custGeom>
            <a:avLst/>
            <a:gdLst/>
            <a:ahLst/>
            <a:cxnLst/>
            <a:rect l="l" t="t" r="r" b="b"/>
            <a:pathLst>
              <a:path w="3543279" h="1342145">
                <a:moveTo>
                  <a:pt x="0" y="0"/>
                </a:moveTo>
                <a:lnTo>
                  <a:pt x="3543279" y="0"/>
                </a:lnTo>
                <a:lnTo>
                  <a:pt x="3543279" y="1342145"/>
                </a:lnTo>
                <a:lnTo>
                  <a:pt x="0" y="1342145"/>
                </a:lnTo>
                <a:lnTo>
                  <a:pt x="0" y="0"/>
                </a:lnTo>
                <a:close/>
              </a:path>
            </a:pathLst>
          </a:custGeom>
          <a:blipFill>
            <a:blip r:embed="rId14"/>
            <a:stretch>
              <a:fillRect l="-38679" t="-77801" r="-36069" b="-81702"/>
            </a:stretch>
          </a:blipFill>
        </p:spPr>
        <p:txBody>
          <a:bodyPr/>
          <a:lstStyle/>
          <a:p>
            <a:endParaRPr lang="en-GB"/>
          </a:p>
        </p:txBody>
      </p:sp>
      <p:sp>
        <p:nvSpPr>
          <p:cNvPr id="46" name="TextBox 46"/>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About IntentHQ (contd.)</a:t>
            </a:r>
          </a:p>
        </p:txBody>
      </p:sp>
      <p:sp>
        <p:nvSpPr>
          <p:cNvPr id="47" name="TextBox 47"/>
          <p:cNvSpPr txBox="1"/>
          <p:nvPr/>
        </p:nvSpPr>
        <p:spPr>
          <a:xfrm>
            <a:off x="13063756" y="4636372"/>
            <a:ext cx="3949489" cy="248435"/>
          </a:xfrm>
          <a:prstGeom prst="rect">
            <a:avLst/>
          </a:prstGeom>
        </p:spPr>
        <p:txBody>
          <a:bodyPr lIns="0" tIns="0" rIns="0" bIns="0" rtlCol="0" anchor="t">
            <a:spAutoFit/>
          </a:bodyPr>
          <a:lstStyle/>
          <a:p>
            <a:pPr algn="ctr">
              <a:lnSpc>
                <a:spcPts val="2056"/>
              </a:lnSpc>
            </a:pPr>
            <a:r>
              <a:rPr lang="en-US" sz="1469" b="1">
                <a:solidFill>
                  <a:srgbClr val="FB0202"/>
                </a:solidFill>
                <a:latin typeface="Open Sauce Bold"/>
                <a:ea typeface="Open Sauce Bold"/>
                <a:cs typeface="Open Sauce Bold"/>
                <a:sym typeface="Open Sauce Bold"/>
              </a:rPr>
              <a:t>Research Chair in Consumer Behaviour</a:t>
            </a:r>
          </a:p>
        </p:txBody>
      </p:sp>
      <p:grpSp>
        <p:nvGrpSpPr>
          <p:cNvPr id="48" name="Group 48"/>
          <p:cNvGrpSpPr/>
          <p:nvPr/>
        </p:nvGrpSpPr>
        <p:grpSpPr>
          <a:xfrm>
            <a:off x="12101622" y="674589"/>
            <a:ext cx="14325371" cy="708223"/>
            <a:chOff x="0" y="0"/>
            <a:chExt cx="3772937" cy="186528"/>
          </a:xfrm>
        </p:grpSpPr>
        <p:sp>
          <p:nvSpPr>
            <p:cNvPr id="49" name="Freeform 49"/>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50" name="TextBox 50"/>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516883" y="-685712"/>
            <a:ext cx="20800382" cy="11619352"/>
          </a:xfrm>
          <a:custGeom>
            <a:avLst/>
            <a:gdLst/>
            <a:ahLst/>
            <a:cxnLst/>
            <a:rect l="l" t="t" r="r" b="b"/>
            <a:pathLst>
              <a:path w="20800382" h="11619352">
                <a:moveTo>
                  <a:pt x="0" y="0"/>
                </a:moveTo>
                <a:lnTo>
                  <a:pt x="20800382" y="0"/>
                </a:lnTo>
                <a:lnTo>
                  <a:pt x="20800382" y="11619352"/>
                </a:lnTo>
                <a:lnTo>
                  <a:pt x="0" y="11619352"/>
                </a:lnTo>
                <a:lnTo>
                  <a:pt x="0" y="0"/>
                </a:lnTo>
                <a:close/>
              </a:path>
            </a:pathLst>
          </a:custGeom>
          <a:blipFill>
            <a:blip r:embed="rId2">
              <a:extLst>
                <a:ext uri="{96DAC541-7B7A-43D3-8B79-37D633B846F1}">
                  <asvg:svgBlip xmlns:asvg="http://schemas.microsoft.com/office/drawing/2016/SVG/main" r:embed="rId3"/>
                </a:ext>
              </a:extLst>
            </a:blip>
            <a:stretch>
              <a:fillRect l="-22012" t="-34932" r="-20456" b="-35094"/>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Platform Overview</a:t>
            </a:r>
          </a:p>
        </p:txBody>
      </p:sp>
      <p:grpSp>
        <p:nvGrpSpPr>
          <p:cNvPr id="4" name="Group 4"/>
          <p:cNvGrpSpPr/>
          <p:nvPr/>
        </p:nvGrpSpPr>
        <p:grpSpPr>
          <a:xfrm>
            <a:off x="9613478"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TextBox 10"/>
          <p:cNvSpPr txBox="1"/>
          <p:nvPr/>
        </p:nvSpPr>
        <p:spPr>
          <a:xfrm>
            <a:off x="2083477" y="5081202"/>
            <a:ext cx="4130504" cy="25916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Lift is an end-to-end solution that ingests internet-scale volumes of customer data. It identifies the signals in this data, turning them into productized customer insights that improve marketing and business outcomes, with privacy guaranteed.</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TextBox 14"/>
          <p:cNvSpPr txBox="1"/>
          <p:nvPr/>
        </p:nvSpPr>
        <p:spPr>
          <a:xfrm>
            <a:off x="6972273" y="5081202"/>
            <a:ext cx="4269520" cy="38870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xChange is the world’s only global marketplace of privacy-safe insights. xChange provides a window onto the world’s data. You can safely monetize data to the xChange, access anonymized insights via Market Explorer, or enable your Insight Makers to create new insights.</a:t>
            </a: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TextBox 18"/>
          <p:cNvSpPr txBox="1"/>
          <p:nvPr/>
        </p:nvSpPr>
        <p:spPr>
          <a:xfrm>
            <a:off x="11903149" y="5081202"/>
            <a:ext cx="4269520" cy="25916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Edge helps marketers and data scientists personalize user experiences and offers based on an entirely new set of previously untapped behavioral insights from real users’ devices. </a:t>
            </a: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p:txBody>
      </p:sp>
      <p:sp>
        <p:nvSpPr>
          <p:cNvPr id="19" name="TextBox 19"/>
          <p:cNvSpPr txBox="1"/>
          <p:nvPr/>
        </p:nvSpPr>
        <p:spPr>
          <a:xfrm>
            <a:off x="2083477" y="4136024"/>
            <a:ext cx="413050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LIFT</a:t>
            </a:r>
          </a:p>
        </p:txBody>
      </p:sp>
      <p:sp>
        <p:nvSpPr>
          <p:cNvPr id="20" name="TextBox 20"/>
          <p:cNvSpPr txBox="1"/>
          <p:nvPr/>
        </p:nvSpPr>
        <p:spPr>
          <a:xfrm>
            <a:off x="6972273" y="4136024"/>
            <a:ext cx="418314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xCHANGE</a:t>
            </a:r>
          </a:p>
        </p:txBody>
      </p:sp>
      <p:sp>
        <p:nvSpPr>
          <p:cNvPr id="21" name="TextBox 21"/>
          <p:cNvSpPr txBox="1"/>
          <p:nvPr/>
        </p:nvSpPr>
        <p:spPr>
          <a:xfrm>
            <a:off x="11972656" y="4136024"/>
            <a:ext cx="413050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EDGE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877441" y="1534298"/>
            <a:ext cx="21935212" cy="18100579"/>
          </a:xfrm>
          <a:custGeom>
            <a:avLst/>
            <a:gdLst/>
            <a:ahLst/>
            <a:cxnLst/>
            <a:rect l="l" t="t" r="r" b="b"/>
            <a:pathLst>
              <a:path w="21935212" h="18100579">
                <a:moveTo>
                  <a:pt x="0" y="0"/>
                </a:moveTo>
                <a:lnTo>
                  <a:pt x="21935212" y="0"/>
                </a:lnTo>
                <a:lnTo>
                  <a:pt x="21935212" y="18100580"/>
                </a:lnTo>
                <a:lnTo>
                  <a:pt x="0" y="18100580"/>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Solution</a:t>
            </a:r>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BULLET_1"/>
          <p:cNvSpPr txBox="1"/>
          <p:nvPr/>
        </p:nvSpPr>
        <p:spPr>
          <a:xfrm>
            <a:off x="2083477" y="3461952"/>
            <a:ext cx="4130504" cy="485859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BULLET_2"/>
          <p:cNvSpPr txBox="1"/>
          <p:nvPr/>
        </p:nvSpPr>
        <p:spPr>
          <a:xfrm>
            <a:off x="6972273"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BULLET_3"/>
          <p:cNvSpPr txBox="1"/>
          <p:nvPr/>
        </p:nvSpPr>
        <p:spPr>
          <a:xfrm>
            <a:off x="11903149"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9" name="PRIMARY_SOLUTION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Solution 1 Name Solution 1 Name Solution 1 Name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760120" y="1085391"/>
            <a:ext cx="21808241" cy="17995804"/>
          </a:xfrm>
          <a:custGeom>
            <a:avLst/>
            <a:gdLst/>
            <a:ahLst/>
            <a:cxnLst/>
            <a:rect l="l" t="t" r="r" b="b"/>
            <a:pathLst>
              <a:path w="21808241" h="17995804">
                <a:moveTo>
                  <a:pt x="0" y="0"/>
                </a:moveTo>
                <a:lnTo>
                  <a:pt x="21808240" y="0"/>
                </a:lnTo>
                <a:lnTo>
                  <a:pt x="21808240" y="17995804"/>
                </a:lnTo>
                <a:lnTo>
                  <a:pt x="0" y="17995804"/>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The Solution</a:t>
            </a:r>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BULLET_1"/>
          <p:cNvSpPr txBox="1"/>
          <p:nvPr/>
        </p:nvSpPr>
        <p:spPr>
          <a:xfrm>
            <a:off x="2083477" y="3461952"/>
            <a:ext cx="4130504" cy="485859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BULLET_2"/>
          <p:cNvSpPr txBox="1"/>
          <p:nvPr/>
        </p:nvSpPr>
        <p:spPr>
          <a:xfrm>
            <a:off x="6972273"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BULLET_3"/>
          <p:cNvSpPr txBox="1"/>
          <p:nvPr/>
        </p:nvSpPr>
        <p:spPr>
          <a:xfrm>
            <a:off x="11903149"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9" name="SECONDARY_SOLUTION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Solution 2 Name Solution 2 Name Solution 2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10634836">
            <a:off x="8476156" y="-1363258"/>
            <a:ext cx="12149701" cy="11390640"/>
          </a:xfrm>
          <a:custGeom>
            <a:avLst/>
            <a:gdLst/>
            <a:ahLst/>
            <a:cxnLst/>
            <a:rect l="l" t="t" r="r" b="b"/>
            <a:pathLst>
              <a:path w="12149701" h="11390640">
                <a:moveTo>
                  <a:pt x="0" y="0"/>
                </a:moveTo>
                <a:lnTo>
                  <a:pt x="12149701" y="0"/>
                </a:lnTo>
                <a:lnTo>
                  <a:pt x="12149701" y="11390640"/>
                </a:lnTo>
                <a:lnTo>
                  <a:pt x="0" y="11390640"/>
                </a:lnTo>
                <a:lnTo>
                  <a:pt x="0" y="0"/>
                </a:lnTo>
                <a:close/>
              </a:path>
            </a:pathLst>
          </a:custGeom>
          <a:blipFill>
            <a:blip r:embed="rId2">
              <a:alphaModFix amt="42000"/>
            </a:blip>
            <a:stretch>
              <a:fillRect l="-62339" t="-37131" r="-25070" b="-48275"/>
            </a:stretch>
          </a:blipFill>
        </p:spPr>
        <p:txBody>
          <a:bodyPr/>
          <a:lstStyle/>
          <a:p>
            <a:endParaRPr lang="en-GB"/>
          </a:p>
        </p:txBody>
      </p:sp>
      <p:sp>
        <p:nvSpPr>
          <p:cNvPr id="3" name="Freeform 3"/>
          <p:cNvSpPr/>
          <p:nvPr/>
        </p:nvSpPr>
        <p:spPr>
          <a:xfrm rot="-1523789">
            <a:off x="-1387158" y="3592112"/>
            <a:ext cx="8862172" cy="9779894"/>
          </a:xfrm>
          <a:custGeom>
            <a:avLst/>
            <a:gdLst/>
            <a:ahLst/>
            <a:cxnLst/>
            <a:rect l="l" t="t" r="r" b="b"/>
            <a:pathLst>
              <a:path w="8862172" h="9779894">
                <a:moveTo>
                  <a:pt x="0" y="0"/>
                </a:moveTo>
                <a:lnTo>
                  <a:pt x="8862172" y="0"/>
                </a:lnTo>
                <a:lnTo>
                  <a:pt x="8862172" y="9779893"/>
                </a:lnTo>
                <a:lnTo>
                  <a:pt x="0" y="9779893"/>
                </a:lnTo>
                <a:lnTo>
                  <a:pt x="0" y="0"/>
                </a:lnTo>
                <a:close/>
              </a:path>
            </a:pathLst>
          </a:custGeom>
          <a:blipFill>
            <a:blip r:embed="rId2">
              <a:alphaModFix amt="42000"/>
            </a:blip>
            <a:stretch>
              <a:fillRect l="-122561" t="-43247" r="-34371" b="-72696"/>
            </a:stretch>
          </a:blipFill>
        </p:spPr>
        <p:txBody>
          <a:bodyPr/>
          <a:lstStyle/>
          <a:p>
            <a:endParaRPr lang="en-GB"/>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456264"/>
            <a:ext cx="7887165" cy="4825424"/>
          </a:xfrm>
          <a:prstGeom prst="rect">
            <a:avLst/>
          </a:prstGeom>
        </p:spPr>
        <p:txBody>
          <a:bodyPr lIns="0" tIns="0" rIns="0" bIns="0" rtlCol="0" anchor="t">
            <a:spAutoFit/>
          </a:bodyPr>
          <a:lstStyle/>
          <a:p>
            <a:pPr algn="l">
              <a:lnSpc>
                <a:spcPts val="11836"/>
              </a:lnSpc>
            </a:pPr>
            <a:r>
              <a:rPr lang="en-US" sz="13151" spc="-920">
                <a:solidFill>
                  <a:srgbClr val="E4E2DD"/>
                </a:solidFill>
                <a:latin typeface="Poppins"/>
                <a:ea typeface="Poppins"/>
                <a:cs typeface="Poppins"/>
                <a:sym typeface="Poppins"/>
              </a:rPr>
              <a:t>AoB</a:t>
            </a:r>
          </a:p>
          <a:p>
            <a:pPr algn="l">
              <a:lnSpc>
                <a:spcPts val="12533"/>
              </a:lnSpc>
            </a:pPr>
            <a:r>
              <a:rPr lang="en-US" sz="8952" spc="-626">
                <a:solidFill>
                  <a:srgbClr val="E4E2DD"/>
                </a:solidFill>
                <a:latin typeface="Poppins"/>
                <a:ea typeface="Poppins"/>
                <a:cs typeface="Poppins"/>
                <a:sym typeface="Poppins"/>
              </a:rPr>
              <a:t>&amp;</a:t>
            </a:r>
          </a:p>
          <a:p>
            <a:pPr algn="l">
              <a:lnSpc>
                <a:spcPts val="11836"/>
              </a:lnSpc>
            </a:pPr>
            <a:r>
              <a:rPr lang="en-US" sz="13151" spc="-920">
                <a:solidFill>
                  <a:srgbClr val="E4E2DD"/>
                </a:solidFill>
                <a:latin typeface="Poppins"/>
                <a:ea typeface="Poppins"/>
                <a:cs typeface="Poppins"/>
                <a:sym typeface="Poppins"/>
              </a:rPr>
              <a:t>Next Steps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TotalTime>
  <Words>1410</Words>
  <Application>Microsoft Office PowerPoint</Application>
  <PresentationFormat>Custom</PresentationFormat>
  <Paragraphs>75</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Open Sauce Bold</vt:lpstr>
      <vt:lpstr>Poppins Medium</vt:lpstr>
      <vt:lpstr>Poppins</vt:lpstr>
      <vt:lpstr>Poppins Semi-Bold</vt:lpstr>
      <vt:lpstr>Calibri</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cp:lastModifiedBy>Asish Sayana</cp:lastModifiedBy>
  <cp:revision>11</cp:revision>
  <dcterms:created xsi:type="dcterms:W3CDTF">2006-08-16T00:00:00Z</dcterms:created>
  <dcterms:modified xsi:type="dcterms:W3CDTF">2026-01-20T12:13:18Z</dcterms:modified>
  <dc:identifier>DAG-3v3cwRg</dc:identifier>
</cp:coreProperties>
</file>